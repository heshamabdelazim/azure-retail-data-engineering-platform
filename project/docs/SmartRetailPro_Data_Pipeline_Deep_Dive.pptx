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Data Pipeline بالتفصيل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من البيانات الخام إلى التقارير التنفيذية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فلسفة Medallion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Source Generation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Bronze Ingestion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Silver Quality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Gold Publishing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Warehouse &amp; Reports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فلسفة Medallion Architecture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فصل مراحل المعالجة حسب نضج البيانات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48840"/>
            <a:ext cx="1664208" cy="804672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4884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4884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4884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4884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Warehouse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703320"/>
            <a:ext cx="3154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3950208" y="3703320"/>
            <a:ext cx="118872" cy="14173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143000" y="386791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143000" y="4361688"/>
            <a:ext cx="2651760" cy="6126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خام كما هو.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Manifest وHash.</a:t>
            </a:r>
          </a:p>
        </p:txBody>
      </p:sp>
      <p:sp>
        <p:nvSpPr>
          <p:cNvPr id="20" name="Shape 20"/>
          <p:cNvSpPr/>
          <p:nvPr/>
        </p:nvSpPr>
        <p:spPr>
          <a:xfrm>
            <a:off x="4434840" y="3703320"/>
            <a:ext cx="3154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470648" y="3703320"/>
            <a:ext cx="118872" cy="14173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22" name="Shape 22"/>
          <p:cNvSpPr txBox="1"/>
          <p:nvPr/>
        </p:nvSpPr>
        <p:spPr>
          <a:xfrm>
            <a:off x="4663440" y="386791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663440" y="4361688"/>
            <a:ext cx="2651760" cy="6126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تنظيف.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رفض غير الصالح.</a:t>
            </a:r>
          </a:p>
        </p:txBody>
      </p:sp>
      <p:sp>
        <p:nvSpPr>
          <p:cNvPr id="24" name="Shape 24"/>
          <p:cNvSpPr/>
          <p:nvPr/>
        </p:nvSpPr>
        <p:spPr>
          <a:xfrm>
            <a:off x="7955280" y="3703320"/>
            <a:ext cx="3154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10991088" y="3703320"/>
            <a:ext cx="118872" cy="14173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8183880" y="386791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183880" y="4361688"/>
            <a:ext cx="2651760" cy="6126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KPIs.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تجميعات أعمال.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 Generation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توليد بيانات واقعية قابلة للاختبار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280160"/>
            <a:ext cx="36576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4270248" y="1280160"/>
            <a:ext cx="118872" cy="39319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4475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ما يتم إنشاؤه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38528"/>
            <a:ext cx="3154680" cy="31272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customers.csv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products.csv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sales/date=...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events/date=...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source_manifest.json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617720" y="1280160"/>
            <a:ext cx="6720840" cy="39319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84 | function generateSource(settings)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85 |   resetDir(paths.source);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86 |   const rng = new Random(settings.seed);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87 |   const end = new Date();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88 |   end.setUTCHours(0, 0, 0, 0);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89 |   const start = addDays(end, -(settings.days - 1));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90 |   const customers = buildCustomers(rng, settings.customers, start);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91 |   const products = buildProducts(rng, settings.products);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92 |   writeCsv(path.join(paths.source, "customers.csv"), customers, ["customer_id", "name", "email", "city", "segment", "signup_date"]);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93 |   writeCsv(path.join(paths.source, "products.csv"), products, ["product_id", "sku", "category", "product_name", "price", "active_status"]);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94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95 |   let orderCounter = 100000;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96 |   let eventCounter = 700000;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97 |   let salesRows = 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98 |   let eventRows = 0;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99 |   for (let d = 0; d &lt; settings.days; d += 1)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100 |     const day = addDays(start, 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101 |     const dayKey = isoDate(day);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102 |     const sales = [];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103 |     const events = [];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104 |     const orders = rng.int(settings.minOrdersPerDay, settings.maxOrdersPerDay);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105 |     for (let o = 0; o &lt; orders; o += 1)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106 |       const orderId = `ORD${orderCounter++}`;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107 |       const customer = rng.pick(customers);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108 |       const lineCount = rng.int(1, 4);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109 |       for (let line = 1; line &lt;= lineCount; line += 1)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110 |         const product = rng.pick(products);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111 |         const quantity = rng.int(1, 5);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112 |         const gross = money(Number(product.price) * quantity);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113 |         const discount = money(gross * rng.pick([0, 0, 0.05, 0.1, 0.15]));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114 |         const row =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115 |           order_id: orderId,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116 |           order_line_no: line,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117 |           order_datetime: randomStamp(rng, day),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118 |           customer_id: customer.customer_id,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119 |           product_id: product.product_id,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120 |           quantity,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121 |           unit_price: product.price,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122 |           discount_amount: discount,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123 |           gross_amount: gross,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124 |           net_amount: money(gross - discount),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125 |           payment_method: rng.pick(payments),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126 |           sales_channel: rng.pick(channels)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127 |        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128 |         injectQualityIssue(rng, row);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Bronze Ingestion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حفظ الخام مع تتبع الملفات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34440"/>
            <a:ext cx="5486400" cy="41605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165 | function ingestBronze(runId)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166 |   const runRoot = path.join(paths.bronze, runId);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167 |   resetDir(runRoot);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168 |   const manifest = [];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169 |   for (const file of listFiles(paths.source))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170 |     const relative = safeRelative(paths.source, file);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171 |     const target = path.join(runRoot, "raw", relative);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172 |     ensureDir(path.dirname(target));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173 |     fs.copyFileSync(file, target);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174 |     const stat = fs.statSync(file);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175 |     manifest.push({ run_id: runId, source_file: relative, bronze_file: safeRelative(rootDir, target), bytes: stat.size, sha256: sha256(file), ingested_at: isoStamp()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176 |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177 |   writeCsv(path.join(runRoot, "ingestion_manifest.csv"), manifest, ["run_id", "source_file", "bronze_file", "bytes", "sha256", "ingested_at"]);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178 |   return { runRoot, metrics: { bronze_files: manifest.length } };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34440"/>
            <a:ext cx="475488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34440"/>
            <a:ext cx="118872" cy="41605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720840" y="13990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لماذا Bronze؟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720840" y="1892808"/>
            <a:ext cx="4251960" cy="33558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يسمح بإعادة المعالجة.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يحافظ على نسخة المصدر.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يسجل SHA256 وحجم كل ملف.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يفصل الاستيعاب عن التنظيف.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Silver Transformation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تنظيف البيانات وقواعد الجودة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234440"/>
            <a:ext cx="338328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3995928" y="1234440"/>
            <a:ext cx="118872" cy="425196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39903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قواعد الجودة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892808"/>
            <a:ext cx="2880360" cy="34472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Duplicate order line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Missing critical field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Invalid quantity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Invalid amount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Invalid reference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389120" y="1234440"/>
            <a:ext cx="6949440" cy="425196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194 |     for (const row of readCsv(file))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195 |       metrics.before += 1;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196 |       const reasons = [];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197 |       const key = `${row.order_id}|${row.order_line_no}`;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198 |       const date = new Date(row.order_datetime);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199 |       const quantity = Number(row.quantity);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200 |       const gross = Number(row.gross_amount);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201 |       const net = Number(row.net_amount);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202 |       if (seen.has(key)) { metrics.duplicates += 1; reasons.push("duplicate_order_line"); } else seen.add(key);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203 |       if (!row.order_id || !row.order_line_no || !row.order_datetime || !row.customer_id || !row.product_id) { metrics.null_critical += 1; reasons.push("missing_critical_field");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204 |       if (!Number.isFinite(quantity) || quantity &lt;= 0) { metrics.invalid_quantity += 1; reasons.push("invalid_quantity");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205 |       if (!Number.isFinite(gross) || gross &lt;= 0 || !Number.isFinite(net) || net &lt;= 0) { metrics.invalid_amount += 1; reasons.push("invalid_amount");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206 |       if (!customerIds.has(row.customer_id) || !productIds.has(row.product_id)) { metrics.invalid_reference += 1; reasons.push("invalid_reference");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207 |       if (Number.isNaN(date.getTime())) reasons.push("invalid_datetime");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208 |       if (reasons.length)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209 |         rejected.push({ ...row, rejection_reason: [...new Set(reasons)].join(";")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210 |       } else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211 |         sales.push({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212 |           order_id: row.order_id,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213 |           order_line_no: Number(row.order_line_no),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214 |           order_datetime: isoStamp(date),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215 |           order_date: isoDate(date),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216 |           year_month: monthKey(date),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217 |           customer_id: row.customer_id,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218 |           product_id: row.product_id,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219 |           quantity,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220 |           unit_price: money(row.unit_price),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221 |           discount_amount: money(row.discount_amount),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222 |           gross_amount: money(row.gross_amount),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223 |           net_amount: money(row.net_amount),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224 |           payment_method: row.payment_method,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225 |           sales_channel: row.sales_channel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226 |        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227 |  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228 |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229 |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230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231 |   const events = [];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232 |   for (const file of listFiles(path.join(raw, "events")).filter((item) =&gt; item.endsWith(".jsonl")))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233 |     for (const line of fs.readFileSync(file, "utf8").split(/\r?\n/).filter(Boolean))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234 |       const event = JSON.parse(line);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235 |       const date = new Date(event.event_timestamp);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236 |       if (!Number.isNaN(date.getTime()) &amp;&amp; customerIds.has(event.customer_id))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237 |         events.push({ ...event, event_date: isoDate(date), event_timestamp: isoStamp(date)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238 |  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239 |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240 |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241 |   const quality =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242 |     generated_at: isoStamp(),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243 |     sales_quality: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244 |       ...metrics,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245 |       after: sales.length,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246 |       rejected: rejected.length,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247 |       retention_rate: ratio(sales.length, metrics.before),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248 |       duplicate_rate: ratio(metrics.duplicates, metrics.before),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Gold Publishing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تحويل البيانات النظيفة إلى مؤشرات أعمال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325880"/>
            <a:ext cx="24688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 txBox="1"/>
          <p:nvPr/>
        </p:nvSpPr>
        <p:spPr>
          <a:xfrm>
            <a:off x="905256" y="149047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905256" y="1892808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$739,868</a:t>
            </a:r>
          </a:p>
        </p:txBody>
      </p:sp>
      <p:sp>
        <p:nvSpPr>
          <p:cNvPr id="10" name="Shape 10"/>
          <p:cNvSpPr/>
          <p:nvPr/>
        </p:nvSpPr>
        <p:spPr>
          <a:xfrm>
            <a:off x="3429000" y="1325880"/>
            <a:ext cx="24688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3557016" y="149047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557016" y="1892808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813</a:t>
            </a:r>
          </a:p>
        </p:txBody>
      </p:sp>
      <p:sp>
        <p:nvSpPr>
          <p:cNvPr id="13" name="Shape 13"/>
          <p:cNvSpPr/>
          <p:nvPr/>
        </p:nvSpPr>
        <p:spPr>
          <a:xfrm>
            <a:off x="6080760" y="1325880"/>
            <a:ext cx="24688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4" name="Shape 14"/>
          <p:cNvSpPr txBox="1"/>
          <p:nvPr/>
        </p:nvSpPr>
        <p:spPr>
          <a:xfrm>
            <a:off x="6208776" y="149047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Items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208776" y="1892808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6,033</a:t>
            </a:r>
          </a:p>
        </p:txBody>
      </p:sp>
      <p:sp>
        <p:nvSpPr>
          <p:cNvPr id="16" name="Shape 16"/>
          <p:cNvSpPr/>
          <p:nvPr/>
        </p:nvSpPr>
        <p:spPr>
          <a:xfrm>
            <a:off x="8732520" y="1325880"/>
            <a:ext cx="24688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860536" y="149047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400">
                <a:solidFill>
                  <a:srgbClr val="64748B"/>
                </a:solidFill>
                <a:latin typeface="Arial"/>
                <a:ea typeface="Arial"/>
                <a:cs typeface="Arial"/>
              </a:rPr>
              <a:t>AOV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860536" y="1892808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3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$910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68680" y="3063240"/>
            <a:ext cx="10469880" cy="19202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264 | function publishGold(silver)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265 |   resetDir(paths.gold);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266 |   const customerById = new Map(silver.customers.map((row) =&gt; [row.customer_id, row]));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267 |   const productById = new Map(silver.products.map((row) =&gt; [row.product_id, row]));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268 |   const daily = aggregate(silver.sales, (row) =&gt; row.order_date);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269 |   const dailyRows = [...daily.entries()].map(([date, group]) =&gt; ({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270 |     order_date: date,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271 |     total_sales_revenue: money(group.revenue),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272 |     total_orders: group.orders.size,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273 |     total_items_sold: group.items,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274 |     average_order_value: money(group.revenue / group.orders.size),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275 |     discount_impact_rate: ratio(group.discount, group.gross)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276 |   })).sort((a, b) =&gt; a.order_date.localeCompare(b.order_date));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277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278 |   const products = [...aggregate(silver.sales, (row) =&gt; row.product_id).entries()]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279 |     .map(([productId, group]) =&gt; ({ product_id: productId, ...productById.get(productId), total_sales_revenue: money(group.revenue), total_orders: group.orders.size, total_items_sold: group.items }))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280 |     .sort((a, b) =&gt; b.total_sales_revenue - a.total_sales_revenue)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281 |     .map((row, index) =&gt; ({ revenue_rank: index + 1, ...row }));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282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283 |   const citySegment = [...aggregate(silver.sales, (row) =&gt;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284 |     const customer = customerById.get(row.customer_id);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285 |     return `${customer.city}|${customer.segment}`;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286 |   }).entries()].map(([key, group]) =&gt;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287 |     const [city, segment] = key.split("|");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288 |     return { city, segment, total_sales_revenue: money(group.revenue), total_orders: group.orders.size, total_items_sold: group.items, average_order_value: money(group.revenue / group.orders.size)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289 |   }).sort((a, b) =&gt; b.total_sales_revenue - a.total_sales_revenue);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290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291 |   const channel = [...aggregate(silver.sales, (row) =&gt; row.sales_channel).entries()];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292 |   const totalRevenue = channel.reduce((sum, [, group]) =&gt; sum + group.revenue, 0);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293 |   const channelRows = channel.map(([sales_channel, group]) =&gt; ({ sales_channel, total_sales_revenue: money(group.revenue), total_orders: group.orders.size, total_items_sold: group.items, revenue_share: ratio(group.revenue, totalRevenue) }))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294 |     .sort((a, b) =&gt; b.total_sales_revenue - a.total_sales_revenue);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295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296 |   const behavior = buildBehavior(silver.events, productById);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297 |   const summary =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298 |     generated_at: isoStamp(),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299 |     business_kpis: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300 |       total_sales_revenue: money(dailyRows.reduce((sum, row) =&gt; sum + row.total_sales_revenue, 0)),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301 |       total_orders: dailyRows.reduce((sum, row) =&gt; sum + row.total_orders, 0),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302 |       total_items_sold: dailyRows.reduce((sum, row) =&gt; sum + row.total_items_sold, 0)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303 |     },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304 |     data_quality: silver.quality.sales_quality,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305 |     leaders: { top_product: products[0], top_city_segment: citySegment[0], top_channel: channelRows[0]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306 |  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307 |   summary.business_kpis.average_order_value = money(summary.business_kpis.total_sales_revenue / summary.business_kpis.total_orders);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309 |   writeCsv(path.join(paths.gold, "daily_sales_kpis.csv"), dailyRows);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310 |   writeCsv(path.join(paths.gold, "product_performance.csv"), products);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311 |   writeCsv(path.join(paths.gold, "city_segment_performance.csv"), citySegment);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312 |   writeCsv(path.join(paths.gold, "channel_sales.csv"), channelRows);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313 |   writeCsv(path.join(paths.gold, "behavior_funnel.csv"), behavior);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314 |   writeJson(path.join(paths.gold, "executive_summary.json"), summary);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315 |   return { dailyRows, products, citySegment, channelRows, behavior, summary, metrics: { gold_daily_rows: dailyRows.length, gold_product_rows: products.length }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316 | }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مقاييس آخر تشغيل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كيف نثبت أن الـ Pipeline يعمل؟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02920" y="1234440"/>
            <a:ext cx="3149194" cy="666206"/>
          </a:xfrm>
          <a:prstGeom prst="rect">
            <a:avLst/>
          </a:prstGeom>
          <a:solidFill>
            <a:srgbClr val="1B998B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المرحلة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652114" y="1234440"/>
            <a:ext cx="1799539" cy="666206"/>
          </a:xfrm>
          <a:prstGeom prst="rect">
            <a:avLst/>
          </a:prstGeom>
          <a:solidFill>
            <a:srgbClr val="1B998B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المدة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451653" y="1234440"/>
            <a:ext cx="6298387" cy="666206"/>
          </a:xfrm>
          <a:prstGeom prst="rect">
            <a:avLst/>
          </a:prstGeom>
          <a:solidFill>
            <a:srgbClr val="1B998B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مقاييس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02920" y="1900646"/>
            <a:ext cx="3149194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source_generation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652114" y="1900646"/>
            <a:ext cx="1799539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402 ms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51653" y="1900646"/>
            <a:ext cx="6298387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source_sales_rows: 2122 | source_event_rows: 4151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02920" y="2566851"/>
            <a:ext cx="3149194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bronze_ingestion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652114" y="2566851"/>
            <a:ext cx="1799539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734 ms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451653" y="2566851"/>
            <a:ext cx="6298387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bronze_files: 31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02920" y="3233057"/>
            <a:ext cx="3149194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silver_transformation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652114" y="3233057"/>
            <a:ext cx="1799539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4576 ms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5451653" y="3233057"/>
            <a:ext cx="6298387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silver_sales_rows: 2008 | rejected_sales_rows: 114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02920" y="3899263"/>
            <a:ext cx="3149194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gold_publishing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652114" y="3899263"/>
            <a:ext cx="1799539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3548 ms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51653" y="3899263"/>
            <a:ext cx="6298387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gold_daily_rows: 14 | gold_product_rows: 50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02920" y="4565469"/>
            <a:ext cx="3149194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warehouse_loading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652114" y="4565469"/>
            <a:ext cx="1799539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2911 ms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451653" y="4565469"/>
            <a:ext cx="6298387" cy="66620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warehouse_size_bytes: 909312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502920" y="5231674"/>
            <a:ext cx="3149194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documentation_outputs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652114" y="5231674"/>
            <a:ext cx="1799539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2556 ms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5451653" y="5231674"/>
            <a:ext cx="6298387" cy="666206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report_files: 5 | source_sales_rows: 2122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Pipeline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كل مرحلة منفصلة وقابلة للشرح.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هناك تتبع للمخرجات وزمن التنفيذ.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جودة البيانات مقاسة لا مفترضة.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المخرجات تنتقل إلى SQLite والتقارير تلقائيًا.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2026-05-05T22:04:28.002Z</dcterms:created>
  <dcterms:modified xsi:type="dcterms:W3CDTF">2026-05-05T22:04:28.002Z</dcterms:modified>
</cp:coreProperties>
</file>