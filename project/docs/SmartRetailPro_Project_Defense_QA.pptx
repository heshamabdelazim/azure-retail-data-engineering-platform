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type="wide"/>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
          <p:cNvSpPr/>
          <p:nvPr/>
        </p:nvSpPr>
        <p:spPr>
          <a:xfrm>
            <a:off x="0" y="0"/>
            <a:ext cx="12192000" cy="6858000"/>
          </a:xfrm>
          <a:prstGeom prst="rect">
            <a:avLst/>
          </a:prstGeom>
          <a:solidFill>
            <a:srgbClr val="0B1F33"/>
          </a:solidFill>
          <a:ln>
            <a:noFill/>
          </a:ln>
        </p:spPr>
      </p:sp>
      <p:sp>
        <p:nvSpPr>
          <p:cNvPr id="4" name="Shape 4"/>
          <p:cNvSpPr/>
          <p:nvPr/>
        </p:nvSpPr>
        <p:spPr>
          <a:xfrm>
            <a:off x="0" y="0"/>
            <a:ext cx="12192000" cy="256032"/>
          </a:xfrm>
          <a:prstGeom prst="rect">
            <a:avLst/>
          </a:prstGeom>
          <a:solidFill>
            <a:srgbClr val="F2B84B"/>
          </a:solidFill>
          <a:ln w="9525">
            <a:solidFill>
              <a:srgbClr val="F2B84B"/>
            </a:solidFill>
          </a:ln>
        </p:spPr>
      </p:sp>
      <p:sp>
        <p:nvSpPr>
          <p:cNvPr id="5" name="Shape 5"/>
          <p:cNvSpPr txBox="1"/>
          <p:nvPr/>
        </p:nvSpPr>
        <p:spPr>
          <a:xfrm>
            <a:off x="685800" y="960120"/>
            <a:ext cx="10789920" cy="502920"/>
          </a:xfrm>
          <a:prstGeom prst="rect">
            <a:avLst/>
          </a:prstGeom>
          <a:noFill/>
          <a:ln>
            <a:noFill/>
          </a:ln>
        </p:spPr>
        <p:txBody>
          <a:bodyPr rtlCol="0" anchor="mid" wrap="square">
            <a:normAutofit/>
          </a:bodyPr>
          <a:lstStyle/>
          <a:p>
            <a:pPr algn="ctr"/>
            <a:r>
              <a:rPr lang="en-US" sz="2200">
                <a:solidFill>
                  <a:srgbClr val="D9EAF7"/>
                </a:solidFill>
                <a:latin typeface="Arial"/>
                <a:ea typeface="Arial"/>
                <a:cs typeface="Arial"/>
              </a:rPr>
              <a:t>Smart Retail Pro</a:t>
            </a:r>
          </a:p>
        </p:txBody>
      </p:sp>
      <p:sp>
        <p:nvSpPr>
          <p:cNvPr id="6" name="Shape 6"/>
          <p:cNvSpPr txBox="1"/>
          <p:nvPr/>
        </p:nvSpPr>
        <p:spPr>
          <a:xfrm>
            <a:off x="777240" y="1554480"/>
            <a:ext cx="10561320" cy="822960"/>
          </a:xfrm>
          <a:prstGeom prst="rect">
            <a:avLst/>
          </a:prstGeom>
          <a:noFill/>
          <a:ln>
            <a:noFill/>
          </a:ln>
        </p:spPr>
        <p:txBody>
          <a:bodyPr rtlCol="1" anchor="mid" wrap="square">
            <a:normAutofit/>
          </a:bodyPr>
          <a:lstStyle/>
          <a:p>
            <a:pPr algn="ctr" rtl="1"/>
            <a:r>
              <a:rPr lang="ar-EG" sz="3800" b="1">
                <a:solidFill>
                  <a:srgbClr val="FFFFFF"/>
                </a:solidFill>
                <a:latin typeface="Arial"/>
                <a:ea typeface="Arial"/>
                <a:cs typeface="Arial"/>
              </a:rPr>
              <a:t>عرض المناقشة والدفاع عن المشروع</a:t>
            </a:r>
          </a:p>
        </p:txBody>
      </p:sp>
      <p:sp>
        <p:nvSpPr>
          <p:cNvPr id="7" name="Shape 7"/>
          <p:cNvSpPr txBox="1"/>
          <p:nvPr/>
        </p:nvSpPr>
        <p:spPr>
          <a:xfrm>
            <a:off x="1143000" y="2514600"/>
            <a:ext cx="9829800" cy="777240"/>
          </a:xfrm>
          <a:prstGeom prst="rect">
            <a:avLst/>
          </a:prstGeom>
          <a:noFill/>
          <a:ln>
            <a:noFill/>
          </a:ln>
        </p:spPr>
        <p:txBody>
          <a:bodyPr rtlCol="1" anchor="mid" wrap="square">
            <a:normAutofit/>
          </a:bodyPr>
          <a:lstStyle/>
          <a:p>
            <a:pPr algn="ctr" rtl="1"/>
            <a:r>
              <a:rPr lang="ar-EG" sz="2200">
                <a:solidFill>
                  <a:srgbClr val="F7F9FB"/>
                </a:solidFill>
                <a:latin typeface="Arial"/>
                <a:ea typeface="Arial"/>
                <a:cs typeface="Arial"/>
              </a:rPr>
              <a:t>إجابات منظمة للأسئلة المتوقعة في التقييم</a:t>
            </a:r>
          </a:p>
        </p:txBody>
      </p:sp>
      <p:sp>
        <p:nvSpPr>
          <p:cNvPr id="8" name="Shape 8"/>
          <p:cNvSpPr txBox="1"/>
          <p:nvPr/>
        </p:nvSpPr>
        <p:spPr>
          <a:xfrm>
            <a:off x="1188720" y="4069080"/>
            <a:ext cx="2240280" cy="530352"/>
          </a:xfrm>
          <a:prstGeom prst="roundRect">
            <a:avLst/>
          </a:prstGeom>
          <a:solidFill>
            <a:srgbClr val="153449"/>
          </a:solidFill>
          <a:ln w="9525">
            <a:solidFill>
              <a:srgbClr val="4CA7A1"/>
            </a:solidFill>
          </a:ln>
        </p:spPr>
        <p:txBody>
          <a:bodyPr rtlCol="0" anchor="mid" wrap="square">
            <a:normAutofit/>
          </a:bodyPr>
          <a:lstStyle/>
          <a:p>
            <a:pPr algn="ctr"/>
            <a:r>
              <a:rPr lang="en-US" sz="1400" b="1">
                <a:solidFill>
                  <a:srgbClr val="FFFFFF"/>
                </a:solidFill>
                <a:latin typeface="Arial"/>
                <a:ea typeface="Arial"/>
                <a:cs typeface="Arial"/>
              </a:rPr>
              <a:t>Q&amp;A</a:t>
            </a:r>
          </a:p>
        </p:txBody>
      </p:sp>
      <p:sp>
        <p:nvSpPr>
          <p:cNvPr id="9" name="Shape 9"/>
          <p:cNvSpPr txBox="1"/>
          <p:nvPr/>
        </p:nvSpPr>
        <p:spPr>
          <a:xfrm>
            <a:off x="3977640" y="4069080"/>
            <a:ext cx="2240280" cy="530352"/>
          </a:xfrm>
          <a:prstGeom prst="roundRect">
            <a:avLst/>
          </a:prstGeom>
          <a:solidFill>
            <a:srgbClr val="153449"/>
          </a:solidFill>
          <a:ln w="9525">
            <a:solidFill>
              <a:srgbClr val="4CA7A1"/>
            </a:solidFill>
          </a:ln>
        </p:spPr>
        <p:txBody>
          <a:bodyPr rtlCol="0" anchor="mid" wrap="square">
            <a:normAutofit/>
          </a:bodyPr>
          <a:lstStyle/>
          <a:p>
            <a:pPr algn="ctr"/>
            <a:r>
              <a:rPr lang="en-US" sz="1400" b="1">
                <a:solidFill>
                  <a:srgbClr val="FFFFFF"/>
                </a:solidFill>
                <a:latin typeface="Arial"/>
                <a:ea typeface="Arial"/>
                <a:cs typeface="Arial"/>
              </a:rPr>
              <a:t>Defense</a:t>
            </a:r>
          </a:p>
        </p:txBody>
      </p:sp>
      <p:sp>
        <p:nvSpPr>
          <p:cNvPr id="10" name="Shape 10"/>
          <p:cNvSpPr txBox="1"/>
          <p:nvPr/>
        </p:nvSpPr>
        <p:spPr>
          <a:xfrm>
            <a:off x="6766560" y="4069080"/>
            <a:ext cx="2240280" cy="530352"/>
          </a:xfrm>
          <a:prstGeom prst="roundRect">
            <a:avLst/>
          </a:prstGeom>
          <a:solidFill>
            <a:srgbClr val="153449"/>
          </a:solidFill>
          <a:ln w="9525">
            <a:solidFill>
              <a:srgbClr val="4CA7A1"/>
            </a:solidFill>
          </a:ln>
        </p:spPr>
        <p:txBody>
          <a:bodyPr rtlCol="0" anchor="mid" wrap="square">
            <a:normAutofit/>
          </a:bodyPr>
          <a:lstStyle/>
          <a:p>
            <a:pPr algn="ctr"/>
            <a:r>
              <a:rPr lang="en-US" sz="1400" b="1">
                <a:solidFill>
                  <a:srgbClr val="FFFFFF"/>
                </a:solidFill>
                <a:latin typeface="Arial"/>
                <a:ea typeface="Arial"/>
                <a:cs typeface="Arial"/>
              </a:rPr>
              <a:t>Architecture</a:t>
            </a:r>
          </a:p>
        </p:txBody>
      </p:sp>
      <p:sp>
        <p:nvSpPr>
          <p:cNvPr id="11" name="Shape 11"/>
          <p:cNvSpPr txBox="1"/>
          <p:nvPr/>
        </p:nvSpPr>
        <p:spPr>
          <a:xfrm>
            <a:off x="9555480" y="4069080"/>
            <a:ext cx="2240280" cy="530352"/>
          </a:xfrm>
          <a:prstGeom prst="roundRect">
            <a:avLst/>
          </a:prstGeom>
          <a:solidFill>
            <a:srgbClr val="153449"/>
          </a:solidFill>
          <a:ln w="9525">
            <a:solidFill>
              <a:srgbClr val="4CA7A1"/>
            </a:solidFill>
          </a:ln>
        </p:spPr>
        <p:txBody>
          <a:bodyPr rtlCol="0" anchor="mid" wrap="square">
            <a:normAutofit/>
          </a:bodyPr>
          <a:lstStyle/>
          <a:p>
            <a:pPr algn="ctr"/>
            <a:r>
              <a:rPr lang="en-US" sz="1400" b="1">
                <a:solidFill>
                  <a:srgbClr val="FFFFFF"/>
                </a:solidFill>
                <a:latin typeface="Arial"/>
                <a:ea typeface="Arial"/>
                <a:cs typeface="Arial"/>
              </a:rPr>
              <a:t>Decisions</a:t>
            </a:r>
          </a:p>
        </p:txBody>
      </p:sp>
      <p:sp>
        <p:nvSpPr>
          <p:cNvPr id="12" name="Shape 12"/>
          <p:cNvSpPr txBox="1"/>
          <p:nvPr/>
        </p:nvSpPr>
        <p:spPr>
          <a:xfrm>
            <a:off x="731520" y="5897880"/>
            <a:ext cx="10789920" cy="320040"/>
          </a:xfrm>
          <a:prstGeom prst="rect">
            <a:avLst/>
          </a:prstGeom>
          <a:noFill/>
          <a:ln>
            <a:noFill/>
          </a:ln>
        </p:spPr>
        <p:txBody>
          <a:bodyPr rtlCol="1" anchor="mid" wrap="square">
            <a:normAutofit/>
          </a:bodyPr>
          <a:lstStyle/>
          <a:p>
            <a:pPr algn="ctr" rtl="1"/>
            <a:r>
              <a:rPr lang="ar-EG" sz="1300">
                <a:solidFill>
                  <a:srgbClr val="D9EAF7"/>
                </a:solidFill>
                <a:latin typeface="Arial"/>
                <a:ea typeface="Arial"/>
                <a:cs typeface="Arial"/>
              </a:rPr>
              <a:t>٦‏/٥‏/٢٠٢٦</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
          <p:cNvSpPr/>
          <p:nvPr/>
        </p:nvSpPr>
        <p:spPr>
          <a:xfrm>
            <a:off x="0" y="0"/>
            <a:ext cx="12192000" cy="6858000"/>
          </a:xfrm>
          <a:prstGeom prst="rect">
            <a:avLst/>
          </a:prstGeom>
          <a:solidFill>
            <a:srgbClr val="F7F9FB"/>
          </a:solidFill>
          <a:ln>
            <a:noFill/>
          </a:ln>
        </p:spPr>
      </p:sp>
      <p:sp>
        <p:nvSpPr>
          <p:cNvPr id="4" name="Shape 4"/>
          <p:cNvSpPr/>
          <p:nvPr/>
        </p:nvSpPr>
        <p:spPr>
          <a:xfrm>
            <a:off x="0" y="0"/>
            <a:ext cx="12192000" cy="164592"/>
          </a:xfrm>
          <a:prstGeom prst="rect">
            <a:avLst/>
          </a:prstGeom>
          <a:solidFill>
            <a:srgbClr val="F2B84B"/>
          </a:solidFill>
          <a:ln w="9525">
            <a:solidFill>
              <a:srgbClr val="F2B84B"/>
            </a:solidFill>
          </a:ln>
        </p:spPr>
      </p:sp>
      <p:sp>
        <p:nvSpPr>
          <p:cNvPr id="5" name="Shape 5"/>
          <p:cNvSpPr txBox="1"/>
          <p:nvPr/>
        </p:nvSpPr>
        <p:spPr>
          <a:xfrm>
            <a:off x="502920" y="384048"/>
            <a:ext cx="11109960" cy="475488"/>
          </a:xfrm>
          <a:prstGeom prst="rect">
            <a:avLst/>
          </a:prstGeom>
          <a:noFill/>
          <a:ln>
            <a:noFill/>
          </a:ln>
        </p:spPr>
        <p:txBody>
          <a:bodyPr rtlCol="1" anchor="mid" wrap="square">
            <a:normAutofit/>
          </a:bodyPr>
          <a:lstStyle/>
          <a:p>
            <a:pPr algn="r" rtl="1"/>
            <a:r>
              <a:rPr lang="ar-EG" sz="3000" b="1">
                <a:solidFill>
                  <a:srgbClr val="0B1F33"/>
                </a:solidFill>
                <a:latin typeface="Arial"/>
                <a:ea typeface="Arial"/>
                <a:cs typeface="Arial"/>
              </a:rPr>
              <a:t>محتويات العرض</a:t>
            </a:r>
          </a:p>
        </p:txBody>
      </p:sp>
      <p:sp>
        <p:nvSpPr>
          <p:cNvPr id="6" name="Shape 6"/>
          <p:cNvSpPr txBox="1"/>
          <p:nvPr/>
        </p:nvSpPr>
        <p:spPr>
          <a:xfrm>
            <a:off x="530352" y="859536"/>
            <a:ext cx="10972800" cy="310896"/>
          </a:xfrm>
          <a:prstGeom prst="rect">
            <a:avLst/>
          </a:prstGeom>
          <a:noFill/>
          <a:ln>
            <a:noFill/>
          </a:ln>
        </p:spPr>
        <p:txBody>
          <a:bodyPr rtlCol="1" anchor="mid" wrap="square">
            <a:normAutofit/>
          </a:bodyPr>
          <a:lstStyle/>
          <a:p>
            <a:pPr algn="r" rtl="1"/>
            <a:r>
              <a:rPr lang="ar-EG" sz="1500">
                <a:solidFill>
                  <a:srgbClr val="64748B"/>
                </a:solidFill>
                <a:latin typeface="Arial"/>
                <a:ea typeface="Arial"/>
                <a:cs typeface="Arial"/>
              </a:rPr>
              <a:t>المحاور التي سيتم شرحها</a:t>
            </a:r>
          </a:p>
        </p:txBody>
      </p:sp>
      <p:sp>
        <p:nvSpPr>
          <p:cNvPr id="7" name="Shape 7"/>
          <p:cNvSpPr/>
          <p:nvPr/>
        </p:nvSpPr>
        <p:spPr>
          <a:xfrm>
            <a:off x="868680" y="1417320"/>
            <a:ext cx="4892040" cy="960120"/>
          </a:xfrm>
          <a:prstGeom prst="roundRect">
            <a:avLst/>
          </a:prstGeom>
          <a:solidFill>
            <a:srgbClr val="FFFFFF"/>
          </a:solidFill>
          <a:ln w="9525">
            <a:solidFill>
              <a:srgbClr val="D6E4F0"/>
            </a:solidFill>
          </a:ln>
        </p:spPr>
      </p:sp>
      <p:sp>
        <p:nvSpPr>
          <p:cNvPr id="8" name="Shape 8"/>
          <p:cNvSpPr/>
          <p:nvPr/>
        </p:nvSpPr>
        <p:spPr>
          <a:xfrm>
            <a:off x="5641848" y="1417320"/>
            <a:ext cx="118872" cy="960120"/>
          </a:xfrm>
          <a:prstGeom prst="rect">
            <a:avLst/>
          </a:prstGeom>
          <a:solidFill>
            <a:srgbClr val="1F4E79"/>
          </a:solidFill>
          <a:ln w="9525">
            <a:solidFill>
              <a:srgbClr val="1F4E79"/>
            </a:solidFill>
          </a:ln>
        </p:spPr>
      </p:sp>
      <p:sp>
        <p:nvSpPr>
          <p:cNvPr id="9" name="Shape 9"/>
          <p:cNvSpPr txBox="1"/>
          <p:nvPr/>
        </p:nvSpPr>
        <p:spPr>
          <a:xfrm>
            <a:off x="1097280" y="1581912"/>
            <a:ext cx="4389120" cy="347472"/>
          </a:xfrm>
          <a:prstGeom prst="rect">
            <a:avLst/>
          </a:prstGeom>
          <a:noFill/>
          <a:ln>
            <a:noFill/>
          </a:ln>
        </p:spPr>
        <p:txBody>
          <a:bodyPr rtlCol="1" anchor="mid" wrap="square">
            <a:normAutofit/>
          </a:bodyPr>
          <a:lstStyle/>
          <a:p>
            <a:pPr algn="r" rtl="1"/>
            <a:r>
              <a:rPr lang="ar-EG" sz="1900" b="1">
                <a:solidFill>
                  <a:srgbClr val="1F4E79"/>
                </a:solidFill>
                <a:latin typeface="Arial"/>
                <a:ea typeface="Arial"/>
                <a:cs typeface="Arial"/>
              </a:rPr>
              <a:t>1. ملخص سريع</a:t>
            </a:r>
          </a:p>
        </p:txBody>
      </p:sp>
      <p:sp>
        <p:nvSpPr>
          <p:cNvPr id="10" name="Shape 10"/>
          <p:cNvSpPr txBox="1"/>
          <p:nvPr/>
        </p:nvSpPr>
        <p:spPr>
          <a:xfrm>
            <a:off x="1097280" y="2075688"/>
            <a:ext cx="4389120" cy="155448"/>
          </a:xfrm>
          <a:prstGeom prst="rect">
            <a:avLst/>
          </a:prstGeom>
          <a:noFill/>
          <a:ln>
            <a:noFill/>
          </a:ln>
        </p:spPr>
        <p:txBody>
          <a:bodyPr rtlCol="1" anchor="mid" wrap="square">
            <a:normAutofit/>
          </a:bodyPr>
          <a:lstStyle/>
          <a:p>
            <a:pPr algn="r" rtl="1"/>
            <a:r>
              <a:rPr lang="ar-EG" sz="1300">
                <a:solidFill>
                  <a:srgbClr val="17202A"/>
                </a:solidFill>
                <a:latin typeface="Arial"/>
                <a:ea typeface="Arial"/>
                <a:cs typeface="Arial"/>
              </a:rPr>
              <a:t>• محور أساسي في العرض</a:t>
            </a:r>
          </a:p>
        </p:txBody>
      </p:sp>
      <p:sp>
        <p:nvSpPr>
          <p:cNvPr id="11" name="Shape 11"/>
          <p:cNvSpPr/>
          <p:nvPr/>
        </p:nvSpPr>
        <p:spPr>
          <a:xfrm>
            <a:off x="6309360" y="1417320"/>
            <a:ext cx="4892040" cy="960120"/>
          </a:xfrm>
          <a:prstGeom prst="roundRect">
            <a:avLst/>
          </a:prstGeom>
          <a:solidFill>
            <a:srgbClr val="FFFFFF"/>
          </a:solidFill>
          <a:ln w="9525">
            <a:solidFill>
              <a:srgbClr val="D6E4F0"/>
            </a:solidFill>
          </a:ln>
        </p:spPr>
      </p:sp>
      <p:sp>
        <p:nvSpPr>
          <p:cNvPr id="12" name="Shape 12"/>
          <p:cNvSpPr/>
          <p:nvPr/>
        </p:nvSpPr>
        <p:spPr>
          <a:xfrm>
            <a:off x="11082528" y="1417320"/>
            <a:ext cx="118872" cy="960120"/>
          </a:xfrm>
          <a:prstGeom prst="rect">
            <a:avLst/>
          </a:prstGeom>
          <a:solidFill>
            <a:srgbClr val="1B998B"/>
          </a:solidFill>
          <a:ln w="9525">
            <a:solidFill>
              <a:srgbClr val="1B998B"/>
            </a:solidFill>
          </a:ln>
        </p:spPr>
      </p:sp>
      <p:sp>
        <p:nvSpPr>
          <p:cNvPr id="13" name="Shape 13"/>
          <p:cNvSpPr txBox="1"/>
          <p:nvPr/>
        </p:nvSpPr>
        <p:spPr>
          <a:xfrm>
            <a:off x="6537960" y="1581912"/>
            <a:ext cx="4389120" cy="347472"/>
          </a:xfrm>
          <a:prstGeom prst="rect">
            <a:avLst/>
          </a:prstGeom>
          <a:noFill/>
          <a:ln>
            <a:noFill/>
          </a:ln>
        </p:spPr>
        <p:txBody>
          <a:bodyPr rtlCol="1" anchor="mid" wrap="square">
            <a:normAutofit/>
          </a:bodyPr>
          <a:lstStyle/>
          <a:p>
            <a:pPr algn="r" rtl="1"/>
            <a:r>
              <a:rPr lang="ar-EG" sz="1900" b="1">
                <a:solidFill>
                  <a:srgbClr val="1B998B"/>
                </a:solidFill>
                <a:latin typeface="Arial"/>
                <a:ea typeface="Arial"/>
                <a:cs typeface="Arial"/>
              </a:rPr>
              <a:t>2. لماذا هذه التقنيات؟</a:t>
            </a:r>
          </a:p>
        </p:txBody>
      </p:sp>
      <p:sp>
        <p:nvSpPr>
          <p:cNvPr id="14" name="Shape 14"/>
          <p:cNvSpPr txBox="1"/>
          <p:nvPr/>
        </p:nvSpPr>
        <p:spPr>
          <a:xfrm>
            <a:off x="6537960" y="2075688"/>
            <a:ext cx="4389120" cy="155448"/>
          </a:xfrm>
          <a:prstGeom prst="rect">
            <a:avLst/>
          </a:prstGeom>
          <a:noFill/>
          <a:ln>
            <a:noFill/>
          </a:ln>
        </p:spPr>
        <p:txBody>
          <a:bodyPr rtlCol="1" anchor="mid" wrap="square">
            <a:normAutofit/>
          </a:bodyPr>
          <a:lstStyle/>
          <a:p>
            <a:pPr algn="r" rtl="1"/>
            <a:r>
              <a:rPr lang="ar-EG" sz="1300">
                <a:solidFill>
                  <a:srgbClr val="17202A"/>
                </a:solidFill>
                <a:latin typeface="Arial"/>
                <a:ea typeface="Arial"/>
                <a:cs typeface="Arial"/>
              </a:rPr>
              <a:t>• محور أساسي في العرض</a:t>
            </a:r>
          </a:p>
        </p:txBody>
      </p:sp>
      <p:sp>
        <p:nvSpPr>
          <p:cNvPr id="15" name="Shape 15"/>
          <p:cNvSpPr/>
          <p:nvPr/>
        </p:nvSpPr>
        <p:spPr>
          <a:xfrm>
            <a:off x="868680" y="2743200"/>
            <a:ext cx="4892040" cy="960120"/>
          </a:xfrm>
          <a:prstGeom prst="roundRect">
            <a:avLst/>
          </a:prstGeom>
          <a:solidFill>
            <a:srgbClr val="FFFFFF"/>
          </a:solidFill>
          <a:ln w="9525">
            <a:solidFill>
              <a:srgbClr val="D6E4F0"/>
            </a:solidFill>
          </a:ln>
        </p:spPr>
      </p:sp>
      <p:sp>
        <p:nvSpPr>
          <p:cNvPr id="16" name="Shape 16"/>
          <p:cNvSpPr/>
          <p:nvPr/>
        </p:nvSpPr>
        <p:spPr>
          <a:xfrm>
            <a:off x="5641848" y="2743200"/>
            <a:ext cx="118872" cy="960120"/>
          </a:xfrm>
          <a:prstGeom prst="rect">
            <a:avLst/>
          </a:prstGeom>
          <a:solidFill>
            <a:srgbClr val="F2B84B"/>
          </a:solidFill>
          <a:ln w="9525">
            <a:solidFill>
              <a:srgbClr val="F2B84B"/>
            </a:solidFill>
          </a:ln>
        </p:spPr>
      </p:sp>
      <p:sp>
        <p:nvSpPr>
          <p:cNvPr id="17" name="Shape 17"/>
          <p:cNvSpPr txBox="1"/>
          <p:nvPr/>
        </p:nvSpPr>
        <p:spPr>
          <a:xfrm>
            <a:off x="1097280" y="2907792"/>
            <a:ext cx="4389120" cy="347472"/>
          </a:xfrm>
          <a:prstGeom prst="rect">
            <a:avLst/>
          </a:prstGeom>
          <a:noFill/>
          <a:ln>
            <a:noFill/>
          </a:ln>
        </p:spPr>
        <p:txBody>
          <a:bodyPr rtlCol="1" anchor="mid" wrap="square">
            <a:normAutofit/>
          </a:bodyPr>
          <a:lstStyle/>
          <a:p>
            <a:pPr algn="r" rtl="1"/>
            <a:r>
              <a:rPr lang="ar-EG" sz="1900" b="1">
                <a:solidFill>
                  <a:srgbClr val="F2B84B"/>
                </a:solidFill>
                <a:latin typeface="Arial"/>
                <a:ea typeface="Arial"/>
                <a:cs typeface="Arial"/>
              </a:rPr>
              <a:t>3. لماذا Medallion؟</a:t>
            </a:r>
          </a:p>
        </p:txBody>
      </p:sp>
      <p:sp>
        <p:nvSpPr>
          <p:cNvPr id="18" name="Shape 18"/>
          <p:cNvSpPr txBox="1"/>
          <p:nvPr/>
        </p:nvSpPr>
        <p:spPr>
          <a:xfrm>
            <a:off x="1097280" y="3401568"/>
            <a:ext cx="4389120" cy="155448"/>
          </a:xfrm>
          <a:prstGeom prst="rect">
            <a:avLst/>
          </a:prstGeom>
          <a:noFill/>
          <a:ln>
            <a:noFill/>
          </a:ln>
        </p:spPr>
        <p:txBody>
          <a:bodyPr rtlCol="1" anchor="mid" wrap="square">
            <a:normAutofit/>
          </a:bodyPr>
          <a:lstStyle/>
          <a:p>
            <a:pPr algn="r" rtl="1"/>
            <a:r>
              <a:rPr lang="ar-EG" sz="1300">
                <a:solidFill>
                  <a:srgbClr val="17202A"/>
                </a:solidFill>
                <a:latin typeface="Arial"/>
                <a:ea typeface="Arial"/>
                <a:cs typeface="Arial"/>
              </a:rPr>
              <a:t>• محور أساسي في العرض</a:t>
            </a:r>
          </a:p>
        </p:txBody>
      </p:sp>
      <p:sp>
        <p:nvSpPr>
          <p:cNvPr id="19" name="Shape 19"/>
          <p:cNvSpPr/>
          <p:nvPr/>
        </p:nvSpPr>
        <p:spPr>
          <a:xfrm>
            <a:off x="6309360" y="2743200"/>
            <a:ext cx="4892040" cy="960120"/>
          </a:xfrm>
          <a:prstGeom prst="roundRect">
            <a:avLst/>
          </a:prstGeom>
          <a:solidFill>
            <a:srgbClr val="FFFFFF"/>
          </a:solidFill>
          <a:ln w="9525">
            <a:solidFill>
              <a:srgbClr val="D6E4F0"/>
            </a:solidFill>
          </a:ln>
        </p:spPr>
      </p:sp>
      <p:sp>
        <p:nvSpPr>
          <p:cNvPr id="20" name="Shape 20"/>
          <p:cNvSpPr/>
          <p:nvPr/>
        </p:nvSpPr>
        <p:spPr>
          <a:xfrm>
            <a:off x="11082528" y="2743200"/>
            <a:ext cx="118872" cy="960120"/>
          </a:xfrm>
          <a:prstGeom prst="rect">
            <a:avLst/>
          </a:prstGeom>
          <a:solidFill>
            <a:srgbClr val="2F9E44"/>
          </a:solidFill>
          <a:ln w="9525">
            <a:solidFill>
              <a:srgbClr val="2F9E44"/>
            </a:solidFill>
          </a:ln>
        </p:spPr>
      </p:sp>
      <p:sp>
        <p:nvSpPr>
          <p:cNvPr id="21" name="Shape 21"/>
          <p:cNvSpPr txBox="1"/>
          <p:nvPr/>
        </p:nvSpPr>
        <p:spPr>
          <a:xfrm>
            <a:off x="6537960" y="2907792"/>
            <a:ext cx="4389120" cy="347472"/>
          </a:xfrm>
          <a:prstGeom prst="rect">
            <a:avLst/>
          </a:prstGeom>
          <a:noFill/>
          <a:ln>
            <a:noFill/>
          </a:ln>
        </p:spPr>
        <p:txBody>
          <a:bodyPr rtlCol="1" anchor="mid" wrap="square">
            <a:normAutofit/>
          </a:bodyPr>
          <a:lstStyle/>
          <a:p>
            <a:pPr algn="r" rtl="1"/>
            <a:r>
              <a:rPr lang="ar-EG" sz="1900" b="1">
                <a:solidFill>
                  <a:srgbClr val="2F9E44"/>
                </a:solidFill>
                <a:latin typeface="Arial"/>
                <a:ea typeface="Arial"/>
                <a:cs typeface="Arial"/>
              </a:rPr>
              <a:t>4. كيف تضمن الجودة؟</a:t>
            </a:r>
          </a:p>
        </p:txBody>
      </p:sp>
      <p:sp>
        <p:nvSpPr>
          <p:cNvPr id="22" name="Shape 22"/>
          <p:cNvSpPr txBox="1"/>
          <p:nvPr/>
        </p:nvSpPr>
        <p:spPr>
          <a:xfrm>
            <a:off x="6537960" y="3401568"/>
            <a:ext cx="4389120" cy="155448"/>
          </a:xfrm>
          <a:prstGeom prst="rect">
            <a:avLst/>
          </a:prstGeom>
          <a:noFill/>
          <a:ln>
            <a:noFill/>
          </a:ln>
        </p:spPr>
        <p:txBody>
          <a:bodyPr rtlCol="1" anchor="mid" wrap="square">
            <a:normAutofit/>
          </a:bodyPr>
          <a:lstStyle/>
          <a:p>
            <a:pPr algn="r" rtl="1"/>
            <a:r>
              <a:rPr lang="ar-EG" sz="1300">
                <a:solidFill>
                  <a:srgbClr val="17202A"/>
                </a:solidFill>
                <a:latin typeface="Arial"/>
                <a:ea typeface="Arial"/>
                <a:cs typeface="Arial"/>
              </a:rPr>
              <a:t>• محور أساسي في العرض</a:t>
            </a:r>
          </a:p>
        </p:txBody>
      </p:sp>
      <p:sp>
        <p:nvSpPr>
          <p:cNvPr id="23" name="Shape 23"/>
          <p:cNvSpPr/>
          <p:nvPr/>
        </p:nvSpPr>
        <p:spPr>
          <a:xfrm>
            <a:off x="868680" y="4069080"/>
            <a:ext cx="4892040" cy="960120"/>
          </a:xfrm>
          <a:prstGeom prst="roundRect">
            <a:avLst/>
          </a:prstGeom>
          <a:solidFill>
            <a:srgbClr val="FFFFFF"/>
          </a:solidFill>
          <a:ln w="9525">
            <a:solidFill>
              <a:srgbClr val="D6E4F0"/>
            </a:solidFill>
          </a:ln>
        </p:spPr>
      </p:sp>
      <p:sp>
        <p:nvSpPr>
          <p:cNvPr id="24" name="Shape 24"/>
          <p:cNvSpPr/>
          <p:nvPr/>
        </p:nvSpPr>
        <p:spPr>
          <a:xfrm>
            <a:off x="5641848" y="4069080"/>
            <a:ext cx="118872" cy="960120"/>
          </a:xfrm>
          <a:prstGeom prst="rect">
            <a:avLst/>
          </a:prstGeom>
          <a:solidFill>
            <a:srgbClr val="E76F51"/>
          </a:solidFill>
          <a:ln w="9525">
            <a:solidFill>
              <a:srgbClr val="E76F51"/>
            </a:solidFill>
          </a:ln>
        </p:spPr>
      </p:sp>
      <p:sp>
        <p:nvSpPr>
          <p:cNvPr id="25" name="Shape 25"/>
          <p:cNvSpPr txBox="1"/>
          <p:nvPr/>
        </p:nvSpPr>
        <p:spPr>
          <a:xfrm>
            <a:off x="1097280" y="4233672"/>
            <a:ext cx="4389120" cy="347472"/>
          </a:xfrm>
          <a:prstGeom prst="rect">
            <a:avLst/>
          </a:prstGeom>
          <a:noFill/>
          <a:ln>
            <a:noFill/>
          </a:ln>
        </p:spPr>
        <p:txBody>
          <a:bodyPr rtlCol="1" anchor="mid" wrap="square">
            <a:normAutofit/>
          </a:bodyPr>
          <a:lstStyle/>
          <a:p>
            <a:pPr algn="r" rtl="1"/>
            <a:r>
              <a:rPr lang="ar-EG" sz="1900" b="1">
                <a:solidFill>
                  <a:srgbClr val="E76F51"/>
                </a:solidFill>
                <a:latin typeface="Arial"/>
                <a:ea typeface="Arial"/>
                <a:cs typeface="Arial"/>
              </a:rPr>
              <a:t>5. كيف يعمل EXE؟</a:t>
            </a:r>
          </a:p>
        </p:txBody>
      </p:sp>
      <p:sp>
        <p:nvSpPr>
          <p:cNvPr id="26" name="Shape 26"/>
          <p:cNvSpPr txBox="1"/>
          <p:nvPr/>
        </p:nvSpPr>
        <p:spPr>
          <a:xfrm>
            <a:off x="1097280" y="4727448"/>
            <a:ext cx="4389120" cy="155448"/>
          </a:xfrm>
          <a:prstGeom prst="rect">
            <a:avLst/>
          </a:prstGeom>
          <a:noFill/>
          <a:ln>
            <a:noFill/>
          </a:ln>
        </p:spPr>
        <p:txBody>
          <a:bodyPr rtlCol="1" anchor="mid" wrap="square">
            <a:normAutofit/>
          </a:bodyPr>
          <a:lstStyle/>
          <a:p>
            <a:pPr algn="r" rtl="1"/>
            <a:r>
              <a:rPr lang="ar-EG" sz="1300">
                <a:solidFill>
                  <a:srgbClr val="17202A"/>
                </a:solidFill>
                <a:latin typeface="Arial"/>
                <a:ea typeface="Arial"/>
                <a:cs typeface="Arial"/>
              </a:rPr>
              <a:t>• محور أساسي في العرض</a:t>
            </a:r>
          </a:p>
        </p:txBody>
      </p:sp>
      <p:sp>
        <p:nvSpPr>
          <p:cNvPr id="27" name="Shape 27"/>
          <p:cNvSpPr/>
          <p:nvPr/>
        </p:nvSpPr>
        <p:spPr>
          <a:xfrm>
            <a:off x="6309360" y="4069080"/>
            <a:ext cx="4892040" cy="960120"/>
          </a:xfrm>
          <a:prstGeom prst="roundRect">
            <a:avLst/>
          </a:prstGeom>
          <a:solidFill>
            <a:srgbClr val="FFFFFF"/>
          </a:solidFill>
          <a:ln w="9525">
            <a:solidFill>
              <a:srgbClr val="D6E4F0"/>
            </a:solidFill>
          </a:ln>
        </p:spPr>
      </p:sp>
      <p:sp>
        <p:nvSpPr>
          <p:cNvPr id="28" name="Shape 28"/>
          <p:cNvSpPr/>
          <p:nvPr/>
        </p:nvSpPr>
        <p:spPr>
          <a:xfrm>
            <a:off x="11082528" y="4069080"/>
            <a:ext cx="118872" cy="960120"/>
          </a:xfrm>
          <a:prstGeom prst="rect">
            <a:avLst/>
          </a:prstGeom>
          <a:solidFill>
            <a:srgbClr val="7057A3"/>
          </a:solidFill>
          <a:ln w="9525">
            <a:solidFill>
              <a:srgbClr val="7057A3"/>
            </a:solidFill>
          </a:ln>
        </p:spPr>
      </p:sp>
      <p:sp>
        <p:nvSpPr>
          <p:cNvPr id="29" name="Shape 29"/>
          <p:cNvSpPr txBox="1"/>
          <p:nvPr/>
        </p:nvSpPr>
        <p:spPr>
          <a:xfrm>
            <a:off x="6537960" y="4233672"/>
            <a:ext cx="4389120" cy="347472"/>
          </a:xfrm>
          <a:prstGeom prst="rect">
            <a:avLst/>
          </a:prstGeom>
          <a:noFill/>
          <a:ln>
            <a:noFill/>
          </a:ln>
        </p:spPr>
        <p:txBody>
          <a:bodyPr rtlCol="1" anchor="mid" wrap="square">
            <a:normAutofit/>
          </a:bodyPr>
          <a:lstStyle/>
          <a:p>
            <a:pPr algn="r" rtl="1"/>
            <a:r>
              <a:rPr lang="ar-EG" sz="1900" b="1">
                <a:solidFill>
                  <a:srgbClr val="7057A3"/>
                </a:solidFill>
                <a:latin typeface="Arial"/>
                <a:ea typeface="Arial"/>
                <a:cs typeface="Arial"/>
              </a:rPr>
              <a:t>6. أسئلة متوقعة</a:t>
            </a:r>
          </a:p>
        </p:txBody>
      </p:sp>
      <p:sp>
        <p:nvSpPr>
          <p:cNvPr id="30" name="Shape 30"/>
          <p:cNvSpPr txBox="1"/>
          <p:nvPr/>
        </p:nvSpPr>
        <p:spPr>
          <a:xfrm>
            <a:off x="6537960" y="4727448"/>
            <a:ext cx="4389120" cy="155448"/>
          </a:xfrm>
          <a:prstGeom prst="rect">
            <a:avLst/>
          </a:prstGeom>
          <a:noFill/>
          <a:ln>
            <a:noFill/>
          </a:ln>
        </p:spPr>
        <p:txBody>
          <a:bodyPr rtlCol="1" anchor="mid" wrap="square">
            <a:normAutofit/>
          </a:bodyPr>
          <a:lstStyle/>
          <a:p>
            <a:pPr algn="r" rtl="1"/>
            <a:r>
              <a:rPr lang="ar-EG" sz="1300">
                <a:solidFill>
                  <a:srgbClr val="17202A"/>
                </a:solidFill>
                <a:latin typeface="Arial"/>
                <a:ea typeface="Arial"/>
                <a:cs typeface="Arial"/>
              </a:rPr>
              <a:t>• محور أساسي في العرض</a:t>
            </a:r>
          </a:p>
        </p:txBody>
      </p:sp>
      <p:sp>
        <p:nvSpPr>
          <p:cNvPr id="31" name="Shape 31"/>
          <p:cNvSpPr txBox="1"/>
          <p:nvPr/>
        </p:nvSpPr>
        <p:spPr>
          <a:xfrm>
            <a:off x="548640" y="6327648"/>
            <a:ext cx="11064240" cy="219456"/>
          </a:xfrm>
          <a:prstGeom prst="rect">
            <a:avLst/>
          </a:prstGeom>
          <a:noFill/>
          <a:ln>
            <a:noFill/>
          </a:ln>
        </p:spPr>
        <p:txBody>
          <a:bodyPr rtlCol="0" anchor="mid" wrap="square">
            <a:normAutofit/>
          </a:bodyPr>
          <a:lstStyle/>
          <a:p>
            <a:pPr algn="ctr"/>
            <a:r>
              <a:rPr lang="en-US" sz="1000">
                <a:solidFill>
                  <a:srgbClr val="64748B"/>
                </a:solidFill>
                <a:latin typeface="Arial"/>
                <a:ea typeface="Arial"/>
                <a:cs typeface="Arial"/>
              </a:rPr>
              <a:t>Smart Retail Pro | Specialized Presentation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
          <p:cNvSpPr/>
          <p:nvPr/>
        </p:nvSpPr>
        <p:spPr>
          <a:xfrm>
            <a:off x="0" y="0"/>
            <a:ext cx="12192000" cy="6858000"/>
          </a:xfrm>
          <a:prstGeom prst="rect">
            <a:avLst/>
          </a:prstGeom>
          <a:solidFill>
            <a:srgbClr val="F7F9FB"/>
          </a:solidFill>
          <a:ln>
            <a:noFill/>
          </a:ln>
        </p:spPr>
      </p:sp>
      <p:sp>
        <p:nvSpPr>
          <p:cNvPr id="4" name="Shape 4"/>
          <p:cNvSpPr/>
          <p:nvPr/>
        </p:nvSpPr>
        <p:spPr>
          <a:xfrm>
            <a:off x="0" y="0"/>
            <a:ext cx="12192000" cy="164592"/>
          </a:xfrm>
          <a:prstGeom prst="rect">
            <a:avLst/>
          </a:prstGeom>
          <a:solidFill>
            <a:srgbClr val="F2B84B"/>
          </a:solidFill>
          <a:ln w="9525">
            <a:solidFill>
              <a:srgbClr val="F2B84B"/>
            </a:solidFill>
          </a:ln>
        </p:spPr>
      </p:sp>
      <p:sp>
        <p:nvSpPr>
          <p:cNvPr id="5" name="Shape 5"/>
          <p:cNvSpPr txBox="1"/>
          <p:nvPr/>
        </p:nvSpPr>
        <p:spPr>
          <a:xfrm>
            <a:off x="502920" y="384048"/>
            <a:ext cx="11109960" cy="475488"/>
          </a:xfrm>
          <a:prstGeom prst="rect">
            <a:avLst/>
          </a:prstGeom>
          <a:noFill/>
          <a:ln>
            <a:noFill/>
          </a:ln>
        </p:spPr>
        <p:txBody>
          <a:bodyPr rtlCol="1" anchor="mid" wrap="square">
            <a:normAutofit/>
          </a:bodyPr>
          <a:lstStyle/>
          <a:p>
            <a:pPr algn="r" rtl="1"/>
            <a:r>
              <a:rPr lang="ar-EG" sz="3000" b="1">
                <a:solidFill>
                  <a:srgbClr val="0B1F33"/>
                </a:solidFill>
                <a:latin typeface="Arial"/>
                <a:ea typeface="Arial"/>
                <a:cs typeface="Arial"/>
              </a:rPr>
              <a:t>ملخص المشروع في دقيقة</a:t>
            </a:r>
          </a:p>
        </p:txBody>
      </p:sp>
      <p:sp>
        <p:nvSpPr>
          <p:cNvPr id="6" name="Shape 6"/>
          <p:cNvSpPr txBox="1"/>
          <p:nvPr/>
        </p:nvSpPr>
        <p:spPr>
          <a:xfrm>
            <a:off x="530352" y="859536"/>
            <a:ext cx="10972800" cy="310896"/>
          </a:xfrm>
          <a:prstGeom prst="rect">
            <a:avLst/>
          </a:prstGeom>
          <a:noFill/>
          <a:ln>
            <a:noFill/>
          </a:ln>
        </p:spPr>
        <p:txBody>
          <a:bodyPr rtlCol="1" anchor="mid" wrap="square">
            <a:normAutofit/>
          </a:bodyPr>
          <a:lstStyle/>
          <a:p>
            <a:pPr algn="r" rtl="1"/>
            <a:r>
              <a:rPr lang="ar-EG" sz="1500">
                <a:solidFill>
                  <a:srgbClr val="64748B"/>
                </a:solidFill>
                <a:latin typeface="Arial"/>
                <a:ea typeface="Arial"/>
                <a:cs typeface="Arial"/>
              </a:rPr>
              <a:t>الإجابة الافتتاحية المقترحة</a:t>
            </a:r>
          </a:p>
        </p:txBody>
      </p:sp>
      <p:sp>
        <p:nvSpPr>
          <p:cNvPr id="7" name="Shape 7"/>
          <p:cNvSpPr/>
          <p:nvPr/>
        </p:nvSpPr>
        <p:spPr>
          <a:xfrm>
            <a:off x="914400" y="1417320"/>
            <a:ext cx="10241280" cy="3291840"/>
          </a:xfrm>
          <a:prstGeom prst="roundRect">
            <a:avLst/>
          </a:prstGeom>
          <a:solidFill>
            <a:srgbClr val="FFFFFF"/>
          </a:solidFill>
          <a:ln w="9525">
            <a:solidFill>
              <a:srgbClr val="D6E4F0"/>
            </a:solidFill>
          </a:ln>
        </p:spPr>
      </p:sp>
      <p:sp>
        <p:nvSpPr>
          <p:cNvPr id="8" name="Shape 8"/>
          <p:cNvSpPr/>
          <p:nvPr/>
        </p:nvSpPr>
        <p:spPr>
          <a:xfrm>
            <a:off x="11036808" y="1417320"/>
            <a:ext cx="118872" cy="3291840"/>
          </a:xfrm>
          <a:prstGeom prst="rect">
            <a:avLst/>
          </a:prstGeom>
          <a:solidFill>
            <a:srgbClr val="1F4E79"/>
          </a:solidFill>
          <a:ln w="9525">
            <a:solidFill>
              <a:srgbClr val="1F4E79"/>
            </a:solidFill>
          </a:ln>
        </p:spPr>
      </p:sp>
      <p:sp>
        <p:nvSpPr>
          <p:cNvPr id="9" name="Shape 9"/>
          <p:cNvSpPr txBox="1"/>
          <p:nvPr/>
        </p:nvSpPr>
        <p:spPr>
          <a:xfrm>
            <a:off x="1143000" y="1581912"/>
            <a:ext cx="9738360" cy="347472"/>
          </a:xfrm>
          <a:prstGeom prst="rect">
            <a:avLst/>
          </a:prstGeom>
          <a:noFill/>
          <a:ln>
            <a:noFill/>
          </a:ln>
        </p:spPr>
        <p:txBody>
          <a:bodyPr rtlCol="1" anchor="mid" wrap="square">
            <a:normAutofit/>
          </a:bodyPr>
          <a:lstStyle/>
          <a:p>
            <a:pPr algn="r" rtl="1"/>
            <a:r>
              <a:rPr lang="ar-EG" sz="1900" b="1">
                <a:solidFill>
                  <a:srgbClr val="1F4E79"/>
                </a:solidFill>
                <a:latin typeface="Arial"/>
                <a:ea typeface="Arial"/>
                <a:cs typeface="Arial"/>
              </a:rPr>
              <a:t>صياغة مختصرة</a:t>
            </a:r>
          </a:p>
        </p:txBody>
      </p:sp>
      <p:sp>
        <p:nvSpPr>
          <p:cNvPr id="10" name="Shape 10"/>
          <p:cNvSpPr txBox="1"/>
          <p:nvPr/>
        </p:nvSpPr>
        <p:spPr>
          <a:xfrm>
            <a:off x="1143000" y="2075688"/>
            <a:ext cx="9738360" cy="2487168"/>
          </a:xfrm>
          <a:prstGeom prst="rect">
            <a:avLst/>
          </a:prstGeom>
          <a:noFill/>
          <a:ln>
            <a:noFill/>
          </a:ln>
        </p:spPr>
        <p:txBody>
          <a:bodyPr rtlCol="1" anchor="mid" wrap="square">
            <a:normAutofit/>
          </a:bodyPr>
          <a:lstStyle/>
          <a:p>
            <a:pPr algn="r" rtl="1"/>
            <a:r>
              <a:rPr lang="ar-EG" sz="1300">
                <a:solidFill>
                  <a:srgbClr val="17202A"/>
                </a:solidFill>
                <a:latin typeface="Arial"/>
                <a:ea typeface="Arial"/>
                <a:cs typeface="Arial"/>
              </a:rPr>
              <a:t>• المشروع عبارة عن منصة هندسة بيانات للتجزئة تعمل محليًا. تولد بيانات خام، تمررها عبر Source وBronze وSilver وGold، تنظفها وتقيس جودتها، ثم تحملها في SQLite وتعرضها من واجهة رسومية مع تقارير وDashboard وتشغيل مباشر بملف EXE.</a:t>
            </a:r>
          </a:p>
        </p:txBody>
      </p:sp>
      <p:sp>
        <p:nvSpPr>
          <p:cNvPr id="11" name="Shape 11"/>
          <p:cNvSpPr txBox="1"/>
          <p:nvPr/>
        </p:nvSpPr>
        <p:spPr>
          <a:xfrm>
            <a:off x="548640" y="6327648"/>
            <a:ext cx="11064240" cy="219456"/>
          </a:xfrm>
          <a:prstGeom prst="rect">
            <a:avLst/>
          </a:prstGeom>
          <a:noFill/>
          <a:ln>
            <a:noFill/>
          </a:ln>
        </p:spPr>
        <p:txBody>
          <a:bodyPr rtlCol="0" anchor="mid" wrap="square">
            <a:normAutofit/>
          </a:bodyPr>
          <a:lstStyle/>
          <a:p>
            <a:pPr algn="ctr"/>
            <a:r>
              <a:rPr lang="en-US" sz="1000">
                <a:solidFill>
                  <a:srgbClr val="64748B"/>
                </a:solidFill>
                <a:latin typeface="Arial"/>
                <a:ea typeface="Arial"/>
                <a:cs typeface="Arial"/>
              </a:rPr>
              <a:t>Smart Retail Pro | Specialized Presentation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
          <p:cNvSpPr/>
          <p:nvPr/>
        </p:nvSpPr>
        <p:spPr>
          <a:xfrm>
            <a:off x="0" y="0"/>
            <a:ext cx="12192000" cy="6858000"/>
          </a:xfrm>
          <a:prstGeom prst="rect">
            <a:avLst/>
          </a:prstGeom>
          <a:solidFill>
            <a:srgbClr val="F7F9FB"/>
          </a:solidFill>
          <a:ln>
            <a:noFill/>
          </a:ln>
        </p:spPr>
      </p:sp>
      <p:sp>
        <p:nvSpPr>
          <p:cNvPr id="4" name="Shape 4"/>
          <p:cNvSpPr/>
          <p:nvPr/>
        </p:nvSpPr>
        <p:spPr>
          <a:xfrm>
            <a:off x="0" y="0"/>
            <a:ext cx="12192000" cy="164592"/>
          </a:xfrm>
          <a:prstGeom prst="rect">
            <a:avLst/>
          </a:prstGeom>
          <a:solidFill>
            <a:srgbClr val="F2B84B"/>
          </a:solidFill>
          <a:ln w="9525">
            <a:solidFill>
              <a:srgbClr val="F2B84B"/>
            </a:solidFill>
          </a:ln>
        </p:spPr>
      </p:sp>
      <p:sp>
        <p:nvSpPr>
          <p:cNvPr id="5" name="Shape 5"/>
          <p:cNvSpPr txBox="1"/>
          <p:nvPr/>
        </p:nvSpPr>
        <p:spPr>
          <a:xfrm>
            <a:off x="502920" y="384048"/>
            <a:ext cx="11109960" cy="475488"/>
          </a:xfrm>
          <a:prstGeom prst="rect">
            <a:avLst/>
          </a:prstGeom>
          <a:noFill/>
          <a:ln>
            <a:noFill/>
          </a:ln>
        </p:spPr>
        <p:txBody>
          <a:bodyPr rtlCol="1" anchor="mid" wrap="square">
            <a:normAutofit/>
          </a:bodyPr>
          <a:lstStyle/>
          <a:p>
            <a:pPr algn="r" rtl="1"/>
            <a:r>
              <a:rPr lang="ar-EG" sz="3000" b="1">
                <a:solidFill>
                  <a:srgbClr val="0B1F33"/>
                </a:solidFill>
                <a:latin typeface="Arial"/>
                <a:ea typeface="Arial"/>
                <a:cs typeface="Arial"/>
              </a:rPr>
              <a:t>لماذا هذه التقنيات؟</a:t>
            </a:r>
          </a:p>
        </p:txBody>
      </p:sp>
      <p:sp>
        <p:nvSpPr>
          <p:cNvPr id="6" name="Shape 6"/>
          <p:cNvSpPr txBox="1"/>
          <p:nvPr/>
        </p:nvSpPr>
        <p:spPr>
          <a:xfrm>
            <a:off x="530352" y="859536"/>
            <a:ext cx="10972800" cy="310896"/>
          </a:xfrm>
          <a:prstGeom prst="rect">
            <a:avLst/>
          </a:prstGeom>
          <a:noFill/>
          <a:ln>
            <a:noFill/>
          </a:ln>
        </p:spPr>
        <p:txBody>
          <a:bodyPr rtlCol="1" anchor="mid" wrap="square">
            <a:normAutofit/>
          </a:bodyPr>
          <a:lstStyle/>
          <a:p>
            <a:pPr algn="r" rtl="1"/>
            <a:r>
              <a:rPr lang="ar-EG" sz="1500">
                <a:solidFill>
                  <a:srgbClr val="64748B"/>
                </a:solidFill>
                <a:latin typeface="Arial"/>
                <a:ea typeface="Arial"/>
                <a:cs typeface="Arial"/>
              </a:rPr>
              <a:t>قرارات تصميم قابلة للدفاع</a:t>
            </a:r>
          </a:p>
        </p:txBody>
      </p:sp>
      <p:sp>
        <p:nvSpPr>
          <p:cNvPr id="7" name="Shape 7"/>
          <p:cNvSpPr txBox="1"/>
          <p:nvPr/>
        </p:nvSpPr>
        <p:spPr>
          <a:xfrm>
            <a:off x="685800" y="1234440"/>
            <a:ext cx="2937967" cy="762000"/>
          </a:xfrm>
          <a:prstGeom prst="rect">
            <a:avLst/>
          </a:prstGeom>
          <a:solidFill>
            <a:srgbClr val="F2B84B"/>
          </a:solidFill>
          <a:ln w="9525">
            <a:solidFill>
              <a:srgbClr val="FFFFFF"/>
            </a:solidFill>
          </a:ln>
        </p:spPr>
        <p:txBody>
          <a:bodyPr rtlCol="1" anchor="mid" wrap="square">
            <a:normAutofit/>
          </a:bodyPr>
          <a:lstStyle/>
          <a:p>
            <a:pPr algn="ctr" rtl="1"/>
            <a:r>
              <a:rPr lang="ar-EG" sz="1300" b="1">
                <a:solidFill>
                  <a:srgbClr val="FFFFFF"/>
                </a:solidFill>
                <a:latin typeface="Arial"/>
                <a:ea typeface="Arial"/>
                <a:cs typeface="Arial"/>
              </a:rPr>
              <a:t>التقنية</a:t>
            </a:r>
          </a:p>
        </p:txBody>
      </p:sp>
      <p:sp>
        <p:nvSpPr>
          <p:cNvPr id="8" name="Shape 8"/>
          <p:cNvSpPr txBox="1"/>
          <p:nvPr/>
        </p:nvSpPr>
        <p:spPr>
          <a:xfrm>
            <a:off x="3623767" y="1234440"/>
            <a:ext cx="7943393" cy="762000"/>
          </a:xfrm>
          <a:prstGeom prst="rect">
            <a:avLst/>
          </a:prstGeom>
          <a:solidFill>
            <a:srgbClr val="F2B84B"/>
          </a:solidFill>
          <a:ln w="9525">
            <a:solidFill>
              <a:srgbClr val="FFFFFF"/>
            </a:solidFill>
          </a:ln>
        </p:spPr>
        <p:txBody>
          <a:bodyPr rtlCol="1" anchor="mid" wrap="square">
            <a:normAutofit/>
          </a:bodyPr>
          <a:lstStyle/>
          <a:p>
            <a:pPr algn="ctr" rtl="1"/>
            <a:r>
              <a:rPr lang="ar-EG" sz="1300" b="1">
                <a:solidFill>
                  <a:srgbClr val="FFFFFF"/>
                </a:solidFill>
                <a:latin typeface="Arial"/>
                <a:ea typeface="Arial"/>
                <a:cs typeface="Arial"/>
              </a:rPr>
              <a:t>سبب الاختيار</a:t>
            </a:r>
          </a:p>
        </p:txBody>
      </p:sp>
      <p:sp>
        <p:nvSpPr>
          <p:cNvPr id="9" name="Shape 9"/>
          <p:cNvSpPr txBox="1"/>
          <p:nvPr/>
        </p:nvSpPr>
        <p:spPr>
          <a:xfrm>
            <a:off x="685800" y="1996440"/>
            <a:ext cx="2937967" cy="762000"/>
          </a:xfrm>
          <a:prstGeom prst="rect">
            <a:avLst/>
          </a:prstGeom>
          <a:solidFill>
            <a:srgbClr val="FFFFFF"/>
          </a:solidFill>
          <a:ln w="9525">
            <a:solidFill>
              <a:srgbClr val="D6E4F0"/>
            </a:solidFill>
          </a:ln>
        </p:spPr>
        <p:txBody>
          <a:bodyPr rtlCol="1" anchor="mid" wrap="square">
            <a:normAutofit/>
          </a:bodyPr>
          <a:lstStyle/>
          <a:p>
            <a:pPr algn="r" rtl="1"/>
            <a:r>
              <a:rPr lang="ar-EG" sz="1050">
                <a:solidFill>
                  <a:srgbClr val="17202A"/>
                </a:solidFill>
                <a:latin typeface="Arial"/>
                <a:ea typeface="Arial"/>
                <a:cs typeface="Arial"/>
              </a:rPr>
              <a:t>Node.js</a:t>
            </a:r>
          </a:p>
        </p:txBody>
      </p:sp>
      <p:sp>
        <p:nvSpPr>
          <p:cNvPr id="10" name="Shape 10"/>
          <p:cNvSpPr txBox="1"/>
          <p:nvPr/>
        </p:nvSpPr>
        <p:spPr>
          <a:xfrm>
            <a:off x="3623767" y="1996440"/>
            <a:ext cx="7943393" cy="762000"/>
          </a:xfrm>
          <a:prstGeom prst="rect">
            <a:avLst/>
          </a:prstGeom>
          <a:solidFill>
            <a:srgbClr val="FFFFFF"/>
          </a:solidFill>
          <a:ln w="9525">
            <a:solidFill>
              <a:srgbClr val="D6E4F0"/>
            </a:solidFill>
          </a:ln>
        </p:spPr>
        <p:txBody>
          <a:bodyPr rtlCol="1" anchor="mid" wrap="square">
            <a:normAutofit/>
          </a:bodyPr>
          <a:lstStyle/>
          <a:p>
            <a:pPr algn="ctr" rtl="1"/>
            <a:r>
              <a:rPr lang="ar-EG" sz="1050">
                <a:solidFill>
                  <a:srgbClr val="17202A"/>
                </a:solidFill>
                <a:latin typeface="Arial"/>
                <a:ea typeface="Arial"/>
                <a:cs typeface="Arial"/>
              </a:rPr>
              <a:t>Runtime مرفق وتشغيل واجهة وخادم محلي بسهولة</a:t>
            </a:r>
          </a:p>
        </p:txBody>
      </p:sp>
      <p:sp>
        <p:nvSpPr>
          <p:cNvPr id="11" name="Shape 11"/>
          <p:cNvSpPr txBox="1"/>
          <p:nvPr/>
        </p:nvSpPr>
        <p:spPr>
          <a:xfrm>
            <a:off x="685800" y="2758440"/>
            <a:ext cx="2937967" cy="762000"/>
          </a:xfrm>
          <a:prstGeom prst="rect">
            <a:avLst/>
          </a:prstGeom>
          <a:solidFill>
            <a:srgbClr val="F0F5FA"/>
          </a:solidFill>
          <a:ln w="9525">
            <a:solidFill>
              <a:srgbClr val="D6E4F0"/>
            </a:solidFill>
          </a:ln>
        </p:spPr>
        <p:txBody>
          <a:bodyPr rtlCol="1" anchor="mid" wrap="square">
            <a:normAutofit/>
          </a:bodyPr>
          <a:lstStyle/>
          <a:p>
            <a:pPr algn="r" rtl="1"/>
            <a:r>
              <a:rPr lang="ar-EG" sz="1050">
                <a:solidFill>
                  <a:srgbClr val="17202A"/>
                </a:solidFill>
                <a:latin typeface="Arial"/>
                <a:ea typeface="Arial"/>
                <a:cs typeface="Arial"/>
              </a:rPr>
              <a:t>SQLite</a:t>
            </a:r>
          </a:p>
        </p:txBody>
      </p:sp>
      <p:sp>
        <p:nvSpPr>
          <p:cNvPr id="12" name="Shape 12"/>
          <p:cNvSpPr txBox="1"/>
          <p:nvPr/>
        </p:nvSpPr>
        <p:spPr>
          <a:xfrm>
            <a:off x="3623767" y="2758440"/>
            <a:ext cx="7943393" cy="762000"/>
          </a:xfrm>
          <a:prstGeom prst="rect">
            <a:avLst/>
          </a:prstGeom>
          <a:solidFill>
            <a:srgbClr val="F0F5FA"/>
          </a:solidFill>
          <a:ln w="9525">
            <a:solidFill>
              <a:srgbClr val="D6E4F0"/>
            </a:solidFill>
          </a:ln>
        </p:spPr>
        <p:txBody>
          <a:bodyPr rtlCol="1" anchor="mid" wrap="square">
            <a:normAutofit/>
          </a:bodyPr>
          <a:lstStyle/>
          <a:p>
            <a:pPr algn="ctr" rtl="1"/>
            <a:r>
              <a:rPr lang="ar-EG" sz="1050">
                <a:solidFill>
                  <a:srgbClr val="17202A"/>
                </a:solidFill>
                <a:latin typeface="Arial"/>
                <a:ea typeface="Arial"/>
                <a:cs typeface="Arial"/>
              </a:rPr>
              <a:t>خفيف، محلي، مناسب للتسليم والتحليل</a:t>
            </a:r>
          </a:p>
        </p:txBody>
      </p:sp>
      <p:sp>
        <p:nvSpPr>
          <p:cNvPr id="13" name="Shape 13"/>
          <p:cNvSpPr txBox="1"/>
          <p:nvPr/>
        </p:nvSpPr>
        <p:spPr>
          <a:xfrm>
            <a:off x="685800" y="3520440"/>
            <a:ext cx="2937967" cy="762000"/>
          </a:xfrm>
          <a:prstGeom prst="rect">
            <a:avLst/>
          </a:prstGeom>
          <a:solidFill>
            <a:srgbClr val="FFFFFF"/>
          </a:solidFill>
          <a:ln w="9525">
            <a:solidFill>
              <a:srgbClr val="D6E4F0"/>
            </a:solidFill>
          </a:ln>
        </p:spPr>
        <p:txBody>
          <a:bodyPr rtlCol="1" anchor="mid" wrap="square">
            <a:normAutofit/>
          </a:bodyPr>
          <a:lstStyle/>
          <a:p>
            <a:pPr algn="r" rtl="1"/>
            <a:r>
              <a:rPr lang="ar-EG" sz="1050">
                <a:solidFill>
                  <a:srgbClr val="17202A"/>
                </a:solidFill>
                <a:latin typeface="Arial"/>
                <a:ea typeface="Arial"/>
                <a:cs typeface="Arial"/>
              </a:rPr>
              <a:t>Python</a:t>
            </a:r>
          </a:p>
        </p:txBody>
      </p:sp>
      <p:sp>
        <p:nvSpPr>
          <p:cNvPr id="14" name="Shape 14"/>
          <p:cNvSpPr txBox="1"/>
          <p:nvPr/>
        </p:nvSpPr>
        <p:spPr>
          <a:xfrm>
            <a:off x="3623767" y="3520440"/>
            <a:ext cx="7943393" cy="762000"/>
          </a:xfrm>
          <a:prstGeom prst="rect">
            <a:avLst/>
          </a:prstGeom>
          <a:solidFill>
            <a:srgbClr val="FFFFFF"/>
          </a:solidFill>
          <a:ln w="9525">
            <a:solidFill>
              <a:srgbClr val="D6E4F0"/>
            </a:solidFill>
          </a:ln>
        </p:spPr>
        <p:txBody>
          <a:bodyPr rtlCol="1" anchor="mid" wrap="square">
            <a:normAutofit/>
          </a:bodyPr>
          <a:lstStyle/>
          <a:p>
            <a:pPr algn="ctr" rtl="1"/>
            <a:r>
              <a:rPr lang="ar-EG" sz="1050">
                <a:solidFill>
                  <a:srgbClr val="17202A"/>
                </a:solidFill>
                <a:latin typeface="Arial"/>
                <a:ea typeface="Arial"/>
                <a:cs typeface="Arial"/>
              </a:rPr>
              <a:t>إضافة واضحة للمنطق الأساسي بلغة شائعة في البيانات</a:t>
            </a:r>
          </a:p>
        </p:txBody>
      </p:sp>
      <p:sp>
        <p:nvSpPr>
          <p:cNvPr id="15" name="Shape 15"/>
          <p:cNvSpPr txBox="1"/>
          <p:nvPr/>
        </p:nvSpPr>
        <p:spPr>
          <a:xfrm>
            <a:off x="685800" y="4282440"/>
            <a:ext cx="2937967" cy="762000"/>
          </a:xfrm>
          <a:prstGeom prst="rect">
            <a:avLst/>
          </a:prstGeom>
          <a:solidFill>
            <a:srgbClr val="F0F5FA"/>
          </a:solidFill>
          <a:ln w="9525">
            <a:solidFill>
              <a:srgbClr val="D6E4F0"/>
            </a:solidFill>
          </a:ln>
        </p:spPr>
        <p:txBody>
          <a:bodyPr rtlCol="1" anchor="mid" wrap="square">
            <a:normAutofit/>
          </a:bodyPr>
          <a:lstStyle/>
          <a:p>
            <a:pPr algn="r" rtl="1"/>
            <a:r>
              <a:rPr lang="ar-EG" sz="1050">
                <a:solidFill>
                  <a:srgbClr val="17202A"/>
                </a:solidFill>
                <a:latin typeface="Arial"/>
                <a:ea typeface="Arial"/>
                <a:cs typeface="Arial"/>
              </a:rPr>
              <a:t>HTML/CSS/JS</a:t>
            </a:r>
          </a:p>
        </p:txBody>
      </p:sp>
      <p:sp>
        <p:nvSpPr>
          <p:cNvPr id="16" name="Shape 16"/>
          <p:cNvSpPr txBox="1"/>
          <p:nvPr/>
        </p:nvSpPr>
        <p:spPr>
          <a:xfrm>
            <a:off x="3623767" y="4282440"/>
            <a:ext cx="7943393" cy="762000"/>
          </a:xfrm>
          <a:prstGeom prst="rect">
            <a:avLst/>
          </a:prstGeom>
          <a:solidFill>
            <a:srgbClr val="F0F5FA"/>
          </a:solidFill>
          <a:ln w="9525">
            <a:solidFill>
              <a:srgbClr val="D6E4F0"/>
            </a:solidFill>
          </a:ln>
        </p:spPr>
        <p:txBody>
          <a:bodyPr rtlCol="1" anchor="mid" wrap="square">
            <a:normAutofit/>
          </a:bodyPr>
          <a:lstStyle/>
          <a:p>
            <a:pPr algn="ctr" rtl="1"/>
            <a:r>
              <a:rPr lang="ar-EG" sz="1050">
                <a:solidFill>
                  <a:srgbClr val="17202A"/>
                </a:solidFill>
                <a:latin typeface="Arial"/>
                <a:ea typeface="Arial"/>
                <a:cs typeface="Arial"/>
              </a:rPr>
              <a:t>واجهة خفيفة لا تحتاج Framework خارجي</a:t>
            </a:r>
          </a:p>
        </p:txBody>
      </p:sp>
      <p:sp>
        <p:nvSpPr>
          <p:cNvPr id="17" name="Shape 17"/>
          <p:cNvSpPr txBox="1"/>
          <p:nvPr/>
        </p:nvSpPr>
        <p:spPr>
          <a:xfrm>
            <a:off x="685800" y="5044440"/>
            <a:ext cx="2937967" cy="762000"/>
          </a:xfrm>
          <a:prstGeom prst="rect">
            <a:avLst/>
          </a:prstGeom>
          <a:solidFill>
            <a:srgbClr val="FFFFFF"/>
          </a:solidFill>
          <a:ln w="9525">
            <a:solidFill>
              <a:srgbClr val="D6E4F0"/>
            </a:solidFill>
          </a:ln>
        </p:spPr>
        <p:txBody>
          <a:bodyPr rtlCol="1" anchor="mid" wrap="square">
            <a:normAutofit/>
          </a:bodyPr>
          <a:lstStyle/>
          <a:p>
            <a:pPr algn="r" rtl="1"/>
            <a:r>
              <a:rPr lang="ar-EG" sz="1050">
                <a:solidFill>
                  <a:srgbClr val="17202A"/>
                </a:solidFill>
                <a:latin typeface="Arial"/>
                <a:ea typeface="Arial"/>
                <a:cs typeface="Arial"/>
              </a:rPr>
              <a:t>.NET EXE</a:t>
            </a:r>
          </a:p>
        </p:txBody>
      </p:sp>
      <p:sp>
        <p:nvSpPr>
          <p:cNvPr id="18" name="Shape 18"/>
          <p:cNvSpPr txBox="1"/>
          <p:nvPr/>
        </p:nvSpPr>
        <p:spPr>
          <a:xfrm>
            <a:off x="3623767" y="5044440"/>
            <a:ext cx="7943393" cy="762000"/>
          </a:xfrm>
          <a:prstGeom prst="rect">
            <a:avLst/>
          </a:prstGeom>
          <a:solidFill>
            <a:srgbClr val="FFFFFF"/>
          </a:solidFill>
          <a:ln w="9525">
            <a:solidFill>
              <a:srgbClr val="D6E4F0"/>
            </a:solidFill>
          </a:ln>
        </p:spPr>
        <p:txBody>
          <a:bodyPr rtlCol="1" anchor="mid" wrap="square">
            <a:normAutofit/>
          </a:bodyPr>
          <a:lstStyle/>
          <a:p>
            <a:pPr algn="ctr" rtl="1"/>
            <a:r>
              <a:rPr lang="ar-EG" sz="1050">
                <a:solidFill>
                  <a:srgbClr val="17202A"/>
                </a:solidFill>
                <a:latin typeface="Arial"/>
                <a:ea typeface="Arial"/>
                <a:cs typeface="Arial"/>
              </a:rPr>
              <a:t>تجربة تشغيل سهلة للمستخدم النهائي</a:t>
            </a:r>
          </a:p>
        </p:txBody>
      </p:sp>
      <p:sp>
        <p:nvSpPr>
          <p:cNvPr id="19" name="Shape 19"/>
          <p:cNvSpPr txBox="1"/>
          <p:nvPr/>
        </p:nvSpPr>
        <p:spPr>
          <a:xfrm>
            <a:off x="548640" y="6327648"/>
            <a:ext cx="11064240" cy="219456"/>
          </a:xfrm>
          <a:prstGeom prst="rect">
            <a:avLst/>
          </a:prstGeom>
          <a:noFill/>
          <a:ln>
            <a:noFill/>
          </a:ln>
        </p:spPr>
        <p:txBody>
          <a:bodyPr rtlCol="0" anchor="mid" wrap="square">
            <a:normAutofit/>
          </a:bodyPr>
          <a:lstStyle/>
          <a:p>
            <a:pPr algn="ctr"/>
            <a:r>
              <a:rPr lang="en-US" sz="1000">
                <a:solidFill>
                  <a:srgbClr val="64748B"/>
                </a:solidFill>
                <a:latin typeface="Arial"/>
                <a:ea typeface="Arial"/>
                <a:cs typeface="Arial"/>
              </a:rPr>
              <a:t>Smart Retail Pro | Specialized Presentation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
          <p:cNvSpPr/>
          <p:nvPr/>
        </p:nvSpPr>
        <p:spPr>
          <a:xfrm>
            <a:off x="0" y="0"/>
            <a:ext cx="12192000" cy="6858000"/>
          </a:xfrm>
          <a:prstGeom prst="rect">
            <a:avLst/>
          </a:prstGeom>
          <a:solidFill>
            <a:srgbClr val="F7F9FB"/>
          </a:solidFill>
          <a:ln>
            <a:noFill/>
          </a:ln>
        </p:spPr>
      </p:sp>
      <p:sp>
        <p:nvSpPr>
          <p:cNvPr id="4" name="Shape 4"/>
          <p:cNvSpPr/>
          <p:nvPr/>
        </p:nvSpPr>
        <p:spPr>
          <a:xfrm>
            <a:off x="0" y="0"/>
            <a:ext cx="12192000" cy="164592"/>
          </a:xfrm>
          <a:prstGeom prst="rect">
            <a:avLst/>
          </a:prstGeom>
          <a:solidFill>
            <a:srgbClr val="F2B84B"/>
          </a:solidFill>
          <a:ln w="9525">
            <a:solidFill>
              <a:srgbClr val="F2B84B"/>
            </a:solidFill>
          </a:ln>
        </p:spPr>
      </p:sp>
      <p:sp>
        <p:nvSpPr>
          <p:cNvPr id="5" name="Shape 5"/>
          <p:cNvSpPr txBox="1"/>
          <p:nvPr/>
        </p:nvSpPr>
        <p:spPr>
          <a:xfrm>
            <a:off x="502920" y="384048"/>
            <a:ext cx="11109960" cy="475488"/>
          </a:xfrm>
          <a:prstGeom prst="rect">
            <a:avLst/>
          </a:prstGeom>
          <a:noFill/>
          <a:ln>
            <a:noFill/>
          </a:ln>
        </p:spPr>
        <p:txBody>
          <a:bodyPr rtlCol="1" anchor="mid" wrap="square">
            <a:normAutofit/>
          </a:bodyPr>
          <a:lstStyle/>
          <a:p>
            <a:pPr algn="r" rtl="1"/>
            <a:r>
              <a:rPr lang="ar-EG" sz="3000" b="1">
                <a:solidFill>
                  <a:srgbClr val="0B1F33"/>
                </a:solidFill>
                <a:latin typeface="Arial"/>
                <a:ea typeface="Arial"/>
                <a:cs typeface="Arial"/>
              </a:rPr>
              <a:t>لماذا Medallion؟</a:t>
            </a:r>
          </a:p>
        </p:txBody>
      </p:sp>
      <p:sp>
        <p:nvSpPr>
          <p:cNvPr id="6" name="Shape 6"/>
          <p:cNvSpPr txBox="1"/>
          <p:nvPr/>
        </p:nvSpPr>
        <p:spPr>
          <a:xfrm>
            <a:off x="530352" y="859536"/>
            <a:ext cx="10972800" cy="310896"/>
          </a:xfrm>
          <a:prstGeom prst="rect">
            <a:avLst/>
          </a:prstGeom>
          <a:noFill/>
          <a:ln>
            <a:noFill/>
          </a:ln>
        </p:spPr>
        <p:txBody>
          <a:bodyPr rtlCol="1" anchor="mid" wrap="square">
            <a:normAutofit/>
          </a:bodyPr>
          <a:lstStyle/>
          <a:p>
            <a:pPr algn="r" rtl="1"/>
            <a:r>
              <a:rPr lang="ar-EG" sz="1500">
                <a:solidFill>
                  <a:srgbClr val="64748B"/>
                </a:solidFill>
                <a:latin typeface="Arial"/>
                <a:ea typeface="Arial"/>
                <a:cs typeface="Arial"/>
              </a:rPr>
              <a:t>فصل البيانات حسب درجة النضج</a:t>
            </a:r>
          </a:p>
        </p:txBody>
      </p:sp>
      <p:sp>
        <p:nvSpPr>
          <p:cNvPr id="7" name="Shape 7"/>
          <p:cNvSpPr txBox="1"/>
          <p:nvPr/>
        </p:nvSpPr>
        <p:spPr>
          <a:xfrm>
            <a:off x="640080" y="2103120"/>
            <a:ext cx="1664208" cy="804672"/>
          </a:xfrm>
          <a:prstGeom prst="roundRect">
            <a:avLst/>
          </a:prstGeom>
          <a:solidFill>
            <a:srgbClr val="E76F51"/>
          </a:solidFill>
          <a:ln w="9525">
            <a:solidFill>
              <a:srgbClr val="E76F51"/>
            </a:solidFill>
          </a:ln>
        </p:spPr>
        <p:txBody>
          <a:bodyPr rtlCol="0" anchor="mid" wrap="square">
            <a:normAutofit/>
          </a:bodyPr>
          <a:lstStyle/>
          <a:p>
            <a:pPr algn="ctr"/>
            <a:r>
              <a:rPr lang="en-US" sz="1700" b="1">
                <a:solidFill>
                  <a:srgbClr val="FFFFFF"/>
                </a:solidFill>
                <a:latin typeface="Arial"/>
                <a:ea typeface="Arial"/>
                <a:cs typeface="Arial"/>
              </a:rPr>
              <a:t>Source</a:t>
            </a:r>
          </a:p>
        </p:txBody>
      </p:sp>
      <p:cxnSp>
        <p:nvCxnSpPr>
          <p:cNvPr id="8" name="Arrow 8"/>
          <p:cNvCxnSpPr/>
          <p:nvPr/>
        </p:nvCxnSpPr>
        <p:spPr>
          <a:xfrm>
            <a:off x="2331720" y="2505456"/>
            <a:ext cx="438912" cy="0"/>
          </a:xfrm>
          <a:prstGeom prst="straightConnector1">
            <a:avLst/>
          </a:prstGeom>
          <a:ln w="25400">
            <a:solidFill>
              <a:srgbClr val="64748B"/>
            </a:solidFill>
            <a:headEnd type="triangle"/>
          </a:ln>
        </p:spPr>
      </p:cxnSp>
      <p:sp>
        <p:nvSpPr>
          <p:cNvPr id="9" name="Shape 9"/>
          <p:cNvSpPr txBox="1"/>
          <p:nvPr/>
        </p:nvSpPr>
        <p:spPr>
          <a:xfrm>
            <a:off x="2926080" y="2103120"/>
            <a:ext cx="1664208" cy="804672"/>
          </a:xfrm>
          <a:prstGeom prst="roundRect">
            <a:avLst/>
          </a:prstGeom>
          <a:solidFill>
            <a:srgbClr val="F2B84B"/>
          </a:solidFill>
          <a:ln w="9525">
            <a:solidFill>
              <a:srgbClr val="F2B84B"/>
            </a:solidFill>
          </a:ln>
        </p:spPr>
        <p:txBody>
          <a:bodyPr rtlCol="0" anchor="mid" wrap="square">
            <a:normAutofit/>
          </a:bodyPr>
          <a:lstStyle/>
          <a:p>
            <a:pPr algn="ctr"/>
            <a:r>
              <a:rPr lang="en-US" sz="1700" b="1">
                <a:solidFill>
                  <a:srgbClr val="FFFFFF"/>
                </a:solidFill>
                <a:latin typeface="Arial"/>
                <a:ea typeface="Arial"/>
                <a:cs typeface="Arial"/>
              </a:rPr>
              <a:t>Bronze</a:t>
            </a:r>
          </a:p>
        </p:txBody>
      </p:sp>
      <p:cxnSp>
        <p:nvCxnSpPr>
          <p:cNvPr id="10" name="Arrow 10"/>
          <p:cNvCxnSpPr/>
          <p:nvPr/>
        </p:nvCxnSpPr>
        <p:spPr>
          <a:xfrm>
            <a:off x="4617720" y="2505456"/>
            <a:ext cx="438912" cy="0"/>
          </a:xfrm>
          <a:prstGeom prst="straightConnector1">
            <a:avLst/>
          </a:prstGeom>
          <a:ln w="25400">
            <a:solidFill>
              <a:srgbClr val="64748B"/>
            </a:solidFill>
            <a:headEnd type="triangle"/>
          </a:ln>
        </p:spPr>
      </p:cxnSp>
      <p:sp>
        <p:nvSpPr>
          <p:cNvPr id="11" name="Shape 11"/>
          <p:cNvSpPr txBox="1"/>
          <p:nvPr/>
        </p:nvSpPr>
        <p:spPr>
          <a:xfrm>
            <a:off x="5212080" y="2103120"/>
            <a:ext cx="1664208" cy="804672"/>
          </a:xfrm>
          <a:prstGeom prst="roundRect">
            <a:avLst/>
          </a:prstGeom>
          <a:solidFill>
            <a:srgbClr val="1B998B"/>
          </a:solidFill>
          <a:ln w="9525">
            <a:solidFill>
              <a:srgbClr val="1B998B"/>
            </a:solidFill>
          </a:ln>
        </p:spPr>
        <p:txBody>
          <a:bodyPr rtlCol="0" anchor="mid" wrap="square">
            <a:normAutofit/>
          </a:bodyPr>
          <a:lstStyle/>
          <a:p>
            <a:pPr algn="ctr"/>
            <a:r>
              <a:rPr lang="en-US" sz="1700" b="1">
                <a:solidFill>
                  <a:srgbClr val="FFFFFF"/>
                </a:solidFill>
                <a:latin typeface="Arial"/>
                <a:ea typeface="Arial"/>
                <a:cs typeface="Arial"/>
              </a:rPr>
              <a:t>Silver</a:t>
            </a:r>
          </a:p>
        </p:txBody>
      </p:sp>
      <p:cxnSp>
        <p:nvCxnSpPr>
          <p:cNvPr id="12" name="Arrow 12"/>
          <p:cNvCxnSpPr/>
          <p:nvPr/>
        </p:nvCxnSpPr>
        <p:spPr>
          <a:xfrm>
            <a:off x="6903720" y="2505456"/>
            <a:ext cx="438912" cy="0"/>
          </a:xfrm>
          <a:prstGeom prst="straightConnector1">
            <a:avLst/>
          </a:prstGeom>
          <a:ln w="25400">
            <a:solidFill>
              <a:srgbClr val="64748B"/>
            </a:solidFill>
            <a:headEnd type="triangle"/>
          </a:ln>
        </p:spPr>
      </p:cxnSp>
      <p:sp>
        <p:nvSpPr>
          <p:cNvPr id="13" name="Shape 13"/>
          <p:cNvSpPr txBox="1"/>
          <p:nvPr/>
        </p:nvSpPr>
        <p:spPr>
          <a:xfrm>
            <a:off x="7498080" y="2103120"/>
            <a:ext cx="1664208" cy="804672"/>
          </a:xfrm>
          <a:prstGeom prst="roundRect">
            <a:avLst/>
          </a:prstGeom>
          <a:solidFill>
            <a:srgbClr val="2F9E44"/>
          </a:solidFill>
          <a:ln w="9525">
            <a:solidFill>
              <a:srgbClr val="2F9E44"/>
            </a:solidFill>
          </a:ln>
        </p:spPr>
        <p:txBody>
          <a:bodyPr rtlCol="0" anchor="mid" wrap="square">
            <a:normAutofit/>
          </a:bodyPr>
          <a:lstStyle/>
          <a:p>
            <a:pPr algn="ctr"/>
            <a:r>
              <a:rPr lang="en-US" sz="1700" b="1">
                <a:solidFill>
                  <a:srgbClr val="FFFFFF"/>
                </a:solidFill>
                <a:latin typeface="Arial"/>
                <a:ea typeface="Arial"/>
                <a:cs typeface="Arial"/>
              </a:rPr>
              <a:t>Gold</a:t>
            </a:r>
          </a:p>
        </p:txBody>
      </p:sp>
      <p:cxnSp>
        <p:nvCxnSpPr>
          <p:cNvPr id="14" name="Arrow 14"/>
          <p:cNvCxnSpPr/>
          <p:nvPr/>
        </p:nvCxnSpPr>
        <p:spPr>
          <a:xfrm>
            <a:off x="9189720" y="2505456"/>
            <a:ext cx="438912" cy="0"/>
          </a:xfrm>
          <a:prstGeom prst="straightConnector1">
            <a:avLst/>
          </a:prstGeom>
          <a:ln w="25400">
            <a:solidFill>
              <a:srgbClr val="64748B"/>
            </a:solidFill>
            <a:headEnd type="triangle"/>
          </a:ln>
        </p:spPr>
      </p:cxnSp>
      <p:sp>
        <p:nvSpPr>
          <p:cNvPr id="15" name="Shape 15"/>
          <p:cNvSpPr txBox="1"/>
          <p:nvPr/>
        </p:nvSpPr>
        <p:spPr>
          <a:xfrm>
            <a:off x="9784080" y="2103120"/>
            <a:ext cx="1664208" cy="804672"/>
          </a:xfrm>
          <a:prstGeom prst="roundRect">
            <a:avLst/>
          </a:prstGeom>
          <a:solidFill>
            <a:srgbClr val="1F4E79"/>
          </a:solidFill>
          <a:ln w="9525">
            <a:solidFill>
              <a:srgbClr val="1F4E79"/>
            </a:solidFill>
          </a:ln>
        </p:spPr>
        <p:txBody>
          <a:bodyPr rtlCol="0" anchor="mid" wrap="square">
            <a:normAutofit/>
          </a:bodyPr>
          <a:lstStyle/>
          <a:p>
            <a:pPr algn="ctr"/>
            <a:r>
              <a:rPr lang="en-US" sz="1700" b="1">
                <a:solidFill>
                  <a:srgbClr val="FFFFFF"/>
                </a:solidFill>
                <a:latin typeface="Arial"/>
                <a:ea typeface="Arial"/>
                <a:cs typeface="Arial"/>
              </a:rPr>
              <a:t>Warehouse</a:t>
            </a:r>
          </a:p>
        </p:txBody>
      </p:sp>
      <p:sp>
        <p:nvSpPr>
          <p:cNvPr id="16" name="Shape 16"/>
          <p:cNvSpPr/>
          <p:nvPr/>
        </p:nvSpPr>
        <p:spPr>
          <a:xfrm>
            <a:off x="914400" y="3657600"/>
            <a:ext cx="10241280" cy="1234440"/>
          </a:xfrm>
          <a:prstGeom prst="roundRect">
            <a:avLst/>
          </a:prstGeom>
          <a:solidFill>
            <a:srgbClr val="FFFFFF"/>
          </a:solidFill>
          <a:ln w="9525">
            <a:solidFill>
              <a:srgbClr val="D6E4F0"/>
            </a:solidFill>
          </a:ln>
        </p:spPr>
      </p:sp>
      <p:sp>
        <p:nvSpPr>
          <p:cNvPr id="17" name="Shape 17"/>
          <p:cNvSpPr/>
          <p:nvPr/>
        </p:nvSpPr>
        <p:spPr>
          <a:xfrm>
            <a:off x="11036808" y="3657600"/>
            <a:ext cx="118872" cy="1234440"/>
          </a:xfrm>
          <a:prstGeom prst="rect">
            <a:avLst/>
          </a:prstGeom>
          <a:solidFill>
            <a:srgbClr val="F2B84B"/>
          </a:solidFill>
          <a:ln w="9525">
            <a:solidFill>
              <a:srgbClr val="F2B84B"/>
            </a:solidFill>
          </a:ln>
        </p:spPr>
      </p:sp>
      <p:sp>
        <p:nvSpPr>
          <p:cNvPr id="18" name="Shape 18"/>
          <p:cNvSpPr txBox="1"/>
          <p:nvPr/>
        </p:nvSpPr>
        <p:spPr>
          <a:xfrm>
            <a:off x="1143000" y="3822192"/>
            <a:ext cx="9738360" cy="347472"/>
          </a:xfrm>
          <a:prstGeom prst="rect">
            <a:avLst/>
          </a:prstGeom>
          <a:noFill/>
          <a:ln>
            <a:noFill/>
          </a:ln>
        </p:spPr>
        <p:txBody>
          <a:bodyPr rtlCol="1" anchor="mid" wrap="square">
            <a:normAutofit/>
          </a:bodyPr>
          <a:lstStyle/>
          <a:p>
            <a:pPr algn="r" rtl="1"/>
            <a:r>
              <a:rPr lang="ar-EG" sz="1900" b="1">
                <a:solidFill>
                  <a:srgbClr val="F2B84B"/>
                </a:solidFill>
                <a:latin typeface="Arial"/>
                <a:ea typeface="Arial"/>
                <a:cs typeface="Arial"/>
              </a:rPr>
              <a:t>الإجابة</a:t>
            </a:r>
          </a:p>
        </p:txBody>
      </p:sp>
      <p:sp>
        <p:nvSpPr>
          <p:cNvPr id="19" name="Shape 19"/>
          <p:cNvSpPr txBox="1"/>
          <p:nvPr/>
        </p:nvSpPr>
        <p:spPr>
          <a:xfrm>
            <a:off x="1143000" y="4315968"/>
            <a:ext cx="9738360" cy="429768"/>
          </a:xfrm>
          <a:prstGeom prst="rect">
            <a:avLst/>
          </a:prstGeom>
          <a:noFill/>
          <a:ln>
            <a:noFill/>
          </a:ln>
        </p:spPr>
        <p:txBody>
          <a:bodyPr rtlCol="1" anchor="mid" wrap="square">
            <a:normAutofit/>
          </a:bodyPr>
          <a:lstStyle/>
          <a:p>
            <a:pPr algn="r" rtl="1"/>
            <a:r>
              <a:rPr lang="ar-EG" sz="1300">
                <a:solidFill>
                  <a:srgbClr val="17202A"/>
                </a:solidFill>
                <a:latin typeface="Arial"/>
                <a:ea typeface="Arial"/>
                <a:cs typeface="Arial"/>
              </a:rPr>
              <a:t>• لأنها تجعل البيانات الخام محفوظة، والتنظيف منفصلًا، والمؤشرات النهائية واضحة، مما يسهل التتبع وإعادة المعالجة والشرح.</a:t>
            </a:r>
          </a:p>
        </p:txBody>
      </p:sp>
      <p:sp>
        <p:nvSpPr>
          <p:cNvPr id="20" name="Shape 20"/>
          <p:cNvSpPr txBox="1"/>
          <p:nvPr/>
        </p:nvSpPr>
        <p:spPr>
          <a:xfrm>
            <a:off x="548640" y="6327648"/>
            <a:ext cx="11064240" cy="219456"/>
          </a:xfrm>
          <a:prstGeom prst="rect">
            <a:avLst/>
          </a:prstGeom>
          <a:noFill/>
          <a:ln>
            <a:noFill/>
          </a:ln>
        </p:spPr>
        <p:txBody>
          <a:bodyPr rtlCol="0" anchor="mid" wrap="square">
            <a:normAutofit/>
          </a:bodyPr>
          <a:lstStyle/>
          <a:p>
            <a:pPr algn="ctr"/>
            <a:r>
              <a:rPr lang="en-US" sz="1000">
                <a:solidFill>
                  <a:srgbClr val="64748B"/>
                </a:solidFill>
                <a:latin typeface="Arial"/>
                <a:ea typeface="Arial"/>
                <a:cs typeface="Arial"/>
              </a:rPr>
              <a:t>Smart Retail Pro | Specialized Presentation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
          <p:cNvSpPr/>
          <p:nvPr/>
        </p:nvSpPr>
        <p:spPr>
          <a:xfrm>
            <a:off x="0" y="0"/>
            <a:ext cx="12192000" cy="6858000"/>
          </a:xfrm>
          <a:prstGeom prst="rect">
            <a:avLst/>
          </a:prstGeom>
          <a:solidFill>
            <a:srgbClr val="F7F9FB"/>
          </a:solidFill>
          <a:ln>
            <a:noFill/>
          </a:ln>
        </p:spPr>
      </p:sp>
      <p:sp>
        <p:nvSpPr>
          <p:cNvPr id="4" name="Shape 4"/>
          <p:cNvSpPr/>
          <p:nvPr/>
        </p:nvSpPr>
        <p:spPr>
          <a:xfrm>
            <a:off x="0" y="0"/>
            <a:ext cx="12192000" cy="164592"/>
          </a:xfrm>
          <a:prstGeom prst="rect">
            <a:avLst/>
          </a:prstGeom>
          <a:solidFill>
            <a:srgbClr val="F2B84B"/>
          </a:solidFill>
          <a:ln w="9525">
            <a:solidFill>
              <a:srgbClr val="F2B84B"/>
            </a:solidFill>
          </a:ln>
        </p:spPr>
      </p:sp>
      <p:sp>
        <p:nvSpPr>
          <p:cNvPr id="5" name="Shape 5"/>
          <p:cNvSpPr txBox="1"/>
          <p:nvPr/>
        </p:nvSpPr>
        <p:spPr>
          <a:xfrm>
            <a:off x="502920" y="384048"/>
            <a:ext cx="11109960" cy="475488"/>
          </a:xfrm>
          <a:prstGeom prst="rect">
            <a:avLst/>
          </a:prstGeom>
          <a:noFill/>
          <a:ln>
            <a:noFill/>
          </a:ln>
        </p:spPr>
        <p:txBody>
          <a:bodyPr rtlCol="1" anchor="mid" wrap="square">
            <a:normAutofit/>
          </a:bodyPr>
          <a:lstStyle/>
          <a:p>
            <a:pPr algn="r" rtl="1"/>
            <a:r>
              <a:rPr lang="ar-EG" sz="3000" b="1">
                <a:solidFill>
                  <a:srgbClr val="0B1F33"/>
                </a:solidFill>
                <a:latin typeface="Arial"/>
                <a:ea typeface="Arial"/>
                <a:cs typeface="Arial"/>
              </a:rPr>
              <a:t>كيف تضمن جودة البيانات؟</a:t>
            </a:r>
          </a:p>
        </p:txBody>
      </p:sp>
      <p:sp>
        <p:nvSpPr>
          <p:cNvPr id="6" name="Shape 6"/>
          <p:cNvSpPr txBox="1"/>
          <p:nvPr/>
        </p:nvSpPr>
        <p:spPr>
          <a:xfrm>
            <a:off x="530352" y="859536"/>
            <a:ext cx="10972800" cy="310896"/>
          </a:xfrm>
          <a:prstGeom prst="rect">
            <a:avLst/>
          </a:prstGeom>
          <a:noFill/>
          <a:ln>
            <a:noFill/>
          </a:ln>
        </p:spPr>
        <p:txBody>
          <a:bodyPr rtlCol="1" anchor="mid" wrap="square">
            <a:normAutofit/>
          </a:bodyPr>
          <a:lstStyle/>
          <a:p>
            <a:pPr algn="r" rtl="1"/>
            <a:r>
              <a:rPr lang="ar-EG" sz="1500">
                <a:solidFill>
                  <a:srgbClr val="64748B"/>
                </a:solidFill>
                <a:latin typeface="Arial"/>
                <a:ea typeface="Arial"/>
                <a:cs typeface="Arial"/>
              </a:rPr>
              <a:t>قواعد وقياسات لا وعود عامة</a:t>
            </a:r>
          </a:p>
        </p:txBody>
      </p:sp>
      <p:sp>
        <p:nvSpPr>
          <p:cNvPr id="7" name="Shape 7"/>
          <p:cNvSpPr/>
          <p:nvPr/>
        </p:nvSpPr>
        <p:spPr>
          <a:xfrm>
            <a:off x="731520" y="1371600"/>
            <a:ext cx="2743200" cy="1188720"/>
          </a:xfrm>
          <a:prstGeom prst="roundRect">
            <a:avLst/>
          </a:prstGeom>
          <a:solidFill>
            <a:srgbClr val="FFFFFF"/>
          </a:solidFill>
          <a:ln w="9525">
            <a:solidFill>
              <a:srgbClr val="D6E4F0"/>
            </a:solidFill>
          </a:ln>
        </p:spPr>
      </p:sp>
      <p:sp>
        <p:nvSpPr>
          <p:cNvPr id="8" name="Shape 8"/>
          <p:cNvSpPr txBox="1"/>
          <p:nvPr/>
        </p:nvSpPr>
        <p:spPr>
          <a:xfrm>
            <a:off x="859536" y="1536192"/>
            <a:ext cx="2487168" cy="274320"/>
          </a:xfrm>
          <a:prstGeom prst="rect">
            <a:avLst/>
          </a:prstGeom>
          <a:noFill/>
          <a:ln>
            <a:noFill/>
          </a:ln>
        </p:spPr>
        <p:txBody>
          <a:bodyPr rtlCol="1" anchor="mid" wrap="square">
            <a:normAutofit/>
          </a:bodyPr>
          <a:lstStyle/>
          <a:p>
            <a:pPr algn="ctr" rtl="1"/>
            <a:r>
              <a:rPr lang="ar-EG" sz="1400">
                <a:solidFill>
                  <a:srgbClr val="64748B"/>
                </a:solidFill>
                <a:latin typeface="Arial"/>
                <a:ea typeface="Arial"/>
                <a:cs typeface="Arial"/>
              </a:rPr>
              <a:t>Before</a:t>
            </a:r>
          </a:p>
        </p:txBody>
      </p:sp>
      <p:sp>
        <p:nvSpPr>
          <p:cNvPr id="9" name="Shape 9"/>
          <p:cNvSpPr txBox="1"/>
          <p:nvPr/>
        </p:nvSpPr>
        <p:spPr>
          <a:xfrm>
            <a:off x="859536" y="1938528"/>
            <a:ext cx="2487168" cy="420624"/>
          </a:xfrm>
          <a:prstGeom prst="rect">
            <a:avLst/>
          </a:prstGeom>
          <a:noFill/>
          <a:ln>
            <a:noFill/>
          </a:ln>
        </p:spPr>
        <p:txBody>
          <a:bodyPr rtlCol="0" anchor="mid" wrap="square">
            <a:normAutofit/>
          </a:bodyPr>
          <a:lstStyle/>
          <a:p>
            <a:pPr algn="ctr"/>
            <a:r>
              <a:rPr lang="en-US" sz="2300" b="1">
                <a:solidFill>
                  <a:srgbClr val="E76F51"/>
                </a:solidFill>
                <a:latin typeface="Arial"/>
                <a:ea typeface="Arial"/>
                <a:cs typeface="Arial"/>
              </a:rPr>
              <a:t>2,122</a:t>
            </a:r>
          </a:p>
        </p:txBody>
      </p:sp>
      <p:sp>
        <p:nvSpPr>
          <p:cNvPr id="10" name="Shape 10"/>
          <p:cNvSpPr/>
          <p:nvPr/>
        </p:nvSpPr>
        <p:spPr>
          <a:xfrm>
            <a:off x="3657600" y="1371600"/>
            <a:ext cx="2743200" cy="1188720"/>
          </a:xfrm>
          <a:prstGeom prst="roundRect">
            <a:avLst/>
          </a:prstGeom>
          <a:solidFill>
            <a:srgbClr val="FFFFFF"/>
          </a:solidFill>
          <a:ln w="9525">
            <a:solidFill>
              <a:srgbClr val="D6E4F0"/>
            </a:solidFill>
          </a:ln>
        </p:spPr>
      </p:sp>
      <p:sp>
        <p:nvSpPr>
          <p:cNvPr id="11" name="Shape 11"/>
          <p:cNvSpPr txBox="1"/>
          <p:nvPr/>
        </p:nvSpPr>
        <p:spPr>
          <a:xfrm>
            <a:off x="3785616" y="1536192"/>
            <a:ext cx="2487168" cy="274320"/>
          </a:xfrm>
          <a:prstGeom prst="rect">
            <a:avLst/>
          </a:prstGeom>
          <a:noFill/>
          <a:ln>
            <a:noFill/>
          </a:ln>
        </p:spPr>
        <p:txBody>
          <a:bodyPr rtlCol="1" anchor="mid" wrap="square">
            <a:normAutofit/>
          </a:bodyPr>
          <a:lstStyle/>
          <a:p>
            <a:pPr algn="ctr" rtl="1"/>
            <a:r>
              <a:rPr lang="ar-EG" sz="1400">
                <a:solidFill>
                  <a:srgbClr val="64748B"/>
                </a:solidFill>
                <a:latin typeface="Arial"/>
                <a:ea typeface="Arial"/>
                <a:cs typeface="Arial"/>
              </a:rPr>
              <a:t>After</a:t>
            </a:r>
          </a:p>
        </p:txBody>
      </p:sp>
      <p:sp>
        <p:nvSpPr>
          <p:cNvPr id="12" name="Shape 12"/>
          <p:cNvSpPr txBox="1"/>
          <p:nvPr/>
        </p:nvSpPr>
        <p:spPr>
          <a:xfrm>
            <a:off x="3785616" y="1938528"/>
            <a:ext cx="2487168" cy="420624"/>
          </a:xfrm>
          <a:prstGeom prst="rect">
            <a:avLst/>
          </a:prstGeom>
          <a:noFill/>
          <a:ln>
            <a:noFill/>
          </a:ln>
        </p:spPr>
        <p:txBody>
          <a:bodyPr rtlCol="0" anchor="mid" wrap="square">
            <a:normAutofit/>
          </a:bodyPr>
          <a:lstStyle/>
          <a:p>
            <a:pPr algn="ctr"/>
            <a:r>
              <a:rPr lang="en-US" sz="2300" b="1">
                <a:solidFill>
                  <a:srgbClr val="2F9E44"/>
                </a:solidFill>
                <a:latin typeface="Arial"/>
                <a:ea typeface="Arial"/>
                <a:cs typeface="Arial"/>
              </a:rPr>
              <a:t>2,008</a:t>
            </a:r>
          </a:p>
        </p:txBody>
      </p:sp>
      <p:sp>
        <p:nvSpPr>
          <p:cNvPr id="13" name="Shape 13"/>
          <p:cNvSpPr/>
          <p:nvPr/>
        </p:nvSpPr>
        <p:spPr>
          <a:xfrm>
            <a:off x="6583680" y="1371600"/>
            <a:ext cx="2743200" cy="1188720"/>
          </a:xfrm>
          <a:prstGeom prst="roundRect">
            <a:avLst/>
          </a:prstGeom>
          <a:solidFill>
            <a:srgbClr val="FFFFFF"/>
          </a:solidFill>
          <a:ln w="9525">
            <a:solidFill>
              <a:srgbClr val="D6E4F0"/>
            </a:solidFill>
          </a:ln>
        </p:spPr>
      </p:sp>
      <p:sp>
        <p:nvSpPr>
          <p:cNvPr id="14" name="Shape 14"/>
          <p:cNvSpPr txBox="1"/>
          <p:nvPr/>
        </p:nvSpPr>
        <p:spPr>
          <a:xfrm>
            <a:off x="6711696" y="1536192"/>
            <a:ext cx="2487168" cy="274320"/>
          </a:xfrm>
          <a:prstGeom prst="rect">
            <a:avLst/>
          </a:prstGeom>
          <a:noFill/>
          <a:ln>
            <a:noFill/>
          </a:ln>
        </p:spPr>
        <p:txBody>
          <a:bodyPr rtlCol="1" anchor="mid" wrap="square">
            <a:normAutofit/>
          </a:bodyPr>
          <a:lstStyle/>
          <a:p>
            <a:pPr algn="ctr" rtl="1"/>
            <a:r>
              <a:rPr lang="ar-EG" sz="1400">
                <a:solidFill>
                  <a:srgbClr val="64748B"/>
                </a:solidFill>
                <a:latin typeface="Arial"/>
                <a:ea typeface="Arial"/>
                <a:cs typeface="Arial"/>
              </a:rPr>
              <a:t>Rejected</a:t>
            </a:r>
          </a:p>
        </p:txBody>
      </p:sp>
      <p:sp>
        <p:nvSpPr>
          <p:cNvPr id="15" name="Shape 15"/>
          <p:cNvSpPr txBox="1"/>
          <p:nvPr/>
        </p:nvSpPr>
        <p:spPr>
          <a:xfrm>
            <a:off x="6711696" y="1938528"/>
            <a:ext cx="2487168" cy="420624"/>
          </a:xfrm>
          <a:prstGeom prst="rect">
            <a:avLst/>
          </a:prstGeom>
          <a:noFill/>
          <a:ln>
            <a:noFill/>
          </a:ln>
        </p:spPr>
        <p:txBody>
          <a:bodyPr rtlCol="0" anchor="mid" wrap="square">
            <a:normAutofit/>
          </a:bodyPr>
          <a:lstStyle/>
          <a:p>
            <a:pPr algn="ctr"/>
            <a:r>
              <a:rPr lang="en-US" sz="2300" b="1">
                <a:solidFill>
                  <a:srgbClr val="F2B84B"/>
                </a:solidFill>
                <a:latin typeface="Arial"/>
                <a:ea typeface="Arial"/>
                <a:cs typeface="Arial"/>
              </a:rPr>
              <a:t>114</a:t>
            </a:r>
          </a:p>
        </p:txBody>
      </p:sp>
      <p:sp>
        <p:nvSpPr>
          <p:cNvPr id="16" name="Shape 16"/>
          <p:cNvSpPr/>
          <p:nvPr/>
        </p:nvSpPr>
        <p:spPr>
          <a:xfrm>
            <a:off x="9509760" y="1371600"/>
            <a:ext cx="1920240" cy="1188720"/>
          </a:xfrm>
          <a:prstGeom prst="roundRect">
            <a:avLst/>
          </a:prstGeom>
          <a:solidFill>
            <a:srgbClr val="FFFFFF"/>
          </a:solidFill>
          <a:ln w="9525">
            <a:solidFill>
              <a:srgbClr val="D6E4F0"/>
            </a:solidFill>
          </a:ln>
        </p:spPr>
      </p:sp>
      <p:sp>
        <p:nvSpPr>
          <p:cNvPr id="17" name="Shape 17"/>
          <p:cNvSpPr txBox="1"/>
          <p:nvPr/>
        </p:nvSpPr>
        <p:spPr>
          <a:xfrm>
            <a:off x="9637776" y="1536192"/>
            <a:ext cx="1664208" cy="274320"/>
          </a:xfrm>
          <a:prstGeom prst="rect">
            <a:avLst/>
          </a:prstGeom>
          <a:noFill/>
          <a:ln>
            <a:noFill/>
          </a:ln>
        </p:spPr>
        <p:txBody>
          <a:bodyPr rtlCol="1" anchor="mid" wrap="square">
            <a:normAutofit/>
          </a:bodyPr>
          <a:lstStyle/>
          <a:p>
            <a:pPr algn="ctr" rtl="1"/>
            <a:r>
              <a:rPr lang="ar-EG" sz="1400">
                <a:solidFill>
                  <a:srgbClr val="64748B"/>
                </a:solidFill>
                <a:latin typeface="Arial"/>
                <a:ea typeface="Arial"/>
                <a:cs typeface="Arial"/>
              </a:rPr>
              <a:t>Retention</a:t>
            </a:r>
          </a:p>
        </p:txBody>
      </p:sp>
      <p:sp>
        <p:nvSpPr>
          <p:cNvPr id="18" name="Shape 18"/>
          <p:cNvSpPr txBox="1"/>
          <p:nvPr/>
        </p:nvSpPr>
        <p:spPr>
          <a:xfrm>
            <a:off x="9637776" y="1938528"/>
            <a:ext cx="1664208" cy="420624"/>
          </a:xfrm>
          <a:prstGeom prst="rect">
            <a:avLst/>
          </a:prstGeom>
          <a:noFill/>
          <a:ln>
            <a:noFill/>
          </a:ln>
        </p:spPr>
        <p:txBody>
          <a:bodyPr rtlCol="0" anchor="mid" wrap="square">
            <a:normAutofit/>
          </a:bodyPr>
          <a:lstStyle/>
          <a:p>
            <a:pPr algn="ctr"/>
            <a:r>
              <a:rPr lang="en-US" sz="2300" b="1">
                <a:solidFill>
                  <a:srgbClr val="1B998B"/>
                </a:solidFill>
                <a:latin typeface="Arial"/>
                <a:ea typeface="Arial"/>
                <a:cs typeface="Arial"/>
              </a:rPr>
              <a:t>94.6%</a:t>
            </a:r>
          </a:p>
        </p:txBody>
      </p:sp>
      <p:sp>
        <p:nvSpPr>
          <p:cNvPr id="19" name="Shape 19"/>
          <p:cNvSpPr/>
          <p:nvPr/>
        </p:nvSpPr>
        <p:spPr>
          <a:xfrm>
            <a:off x="914400" y="3383280"/>
            <a:ext cx="10241280" cy="1508760"/>
          </a:xfrm>
          <a:prstGeom prst="roundRect">
            <a:avLst/>
          </a:prstGeom>
          <a:solidFill>
            <a:srgbClr val="FFFFFF"/>
          </a:solidFill>
          <a:ln w="9525">
            <a:solidFill>
              <a:srgbClr val="D6E4F0"/>
            </a:solidFill>
          </a:ln>
        </p:spPr>
      </p:sp>
      <p:sp>
        <p:nvSpPr>
          <p:cNvPr id="20" name="Shape 20"/>
          <p:cNvSpPr/>
          <p:nvPr/>
        </p:nvSpPr>
        <p:spPr>
          <a:xfrm>
            <a:off x="11036808" y="3383280"/>
            <a:ext cx="118872" cy="1508760"/>
          </a:xfrm>
          <a:prstGeom prst="rect">
            <a:avLst/>
          </a:prstGeom>
          <a:solidFill>
            <a:srgbClr val="1F4E79"/>
          </a:solidFill>
          <a:ln w="9525">
            <a:solidFill>
              <a:srgbClr val="1F4E79"/>
            </a:solidFill>
          </a:ln>
        </p:spPr>
      </p:sp>
      <p:sp>
        <p:nvSpPr>
          <p:cNvPr id="21" name="Shape 21"/>
          <p:cNvSpPr txBox="1"/>
          <p:nvPr/>
        </p:nvSpPr>
        <p:spPr>
          <a:xfrm>
            <a:off x="1143000" y="3547872"/>
            <a:ext cx="9738360" cy="347472"/>
          </a:xfrm>
          <a:prstGeom prst="rect">
            <a:avLst/>
          </a:prstGeom>
          <a:noFill/>
          <a:ln>
            <a:noFill/>
          </a:ln>
        </p:spPr>
        <p:txBody>
          <a:bodyPr rtlCol="1" anchor="mid" wrap="square">
            <a:normAutofit/>
          </a:bodyPr>
          <a:lstStyle/>
          <a:p>
            <a:pPr algn="r" rtl="1"/>
            <a:r>
              <a:rPr lang="ar-EG" sz="1900" b="1">
                <a:solidFill>
                  <a:srgbClr val="1F4E79"/>
                </a:solidFill>
                <a:latin typeface="Arial"/>
                <a:ea typeface="Arial"/>
                <a:cs typeface="Arial"/>
              </a:rPr>
              <a:t>قواعد الجودة</a:t>
            </a:r>
          </a:p>
        </p:txBody>
      </p:sp>
      <p:sp>
        <p:nvSpPr>
          <p:cNvPr id="22" name="Shape 22"/>
          <p:cNvSpPr txBox="1"/>
          <p:nvPr/>
        </p:nvSpPr>
        <p:spPr>
          <a:xfrm>
            <a:off x="1143000" y="4041648"/>
            <a:ext cx="9738360" cy="704088"/>
          </a:xfrm>
          <a:prstGeom prst="rect">
            <a:avLst/>
          </a:prstGeom>
          <a:noFill/>
          <a:ln>
            <a:noFill/>
          </a:ln>
        </p:spPr>
        <p:txBody>
          <a:bodyPr rtlCol="1" anchor="mid" wrap="square">
            <a:normAutofit/>
          </a:bodyPr>
          <a:lstStyle/>
          <a:p>
            <a:pPr algn="r" rtl="1"/>
            <a:r>
              <a:rPr lang="ar-EG" sz="1300">
                <a:solidFill>
                  <a:srgbClr val="17202A"/>
                </a:solidFill>
                <a:latin typeface="Arial"/>
                <a:ea typeface="Arial"/>
                <a:cs typeface="Arial"/>
              </a:rPr>
              <a:t>• تكرار، حقول حرجة فارغة، كمية غير صالحة، مبلغ غير صالح، مراجع عملاء/منتجات غير موجودة.</a:t>
            </a:r>
          </a:p>
        </p:txBody>
      </p:sp>
      <p:sp>
        <p:nvSpPr>
          <p:cNvPr id="23" name="Shape 23"/>
          <p:cNvSpPr txBox="1"/>
          <p:nvPr/>
        </p:nvSpPr>
        <p:spPr>
          <a:xfrm>
            <a:off x="548640" y="6327648"/>
            <a:ext cx="11064240" cy="219456"/>
          </a:xfrm>
          <a:prstGeom prst="rect">
            <a:avLst/>
          </a:prstGeom>
          <a:noFill/>
          <a:ln>
            <a:noFill/>
          </a:ln>
        </p:spPr>
        <p:txBody>
          <a:bodyPr rtlCol="0" anchor="mid" wrap="square">
            <a:normAutofit/>
          </a:bodyPr>
          <a:lstStyle/>
          <a:p>
            <a:pPr algn="ctr"/>
            <a:r>
              <a:rPr lang="en-US" sz="1000">
                <a:solidFill>
                  <a:srgbClr val="64748B"/>
                </a:solidFill>
                <a:latin typeface="Arial"/>
                <a:ea typeface="Arial"/>
                <a:cs typeface="Arial"/>
              </a:rPr>
              <a:t>Smart Retail Pro | Specialized Presentation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
          <p:cNvSpPr/>
          <p:nvPr/>
        </p:nvSpPr>
        <p:spPr>
          <a:xfrm>
            <a:off x="0" y="0"/>
            <a:ext cx="12192000" cy="6858000"/>
          </a:xfrm>
          <a:prstGeom prst="rect">
            <a:avLst/>
          </a:prstGeom>
          <a:solidFill>
            <a:srgbClr val="F7F9FB"/>
          </a:solidFill>
          <a:ln>
            <a:noFill/>
          </a:ln>
        </p:spPr>
      </p:sp>
      <p:sp>
        <p:nvSpPr>
          <p:cNvPr id="4" name="Shape 4"/>
          <p:cNvSpPr/>
          <p:nvPr/>
        </p:nvSpPr>
        <p:spPr>
          <a:xfrm>
            <a:off x="0" y="0"/>
            <a:ext cx="12192000" cy="164592"/>
          </a:xfrm>
          <a:prstGeom prst="rect">
            <a:avLst/>
          </a:prstGeom>
          <a:solidFill>
            <a:srgbClr val="F2B84B"/>
          </a:solidFill>
          <a:ln w="9525">
            <a:solidFill>
              <a:srgbClr val="F2B84B"/>
            </a:solidFill>
          </a:ln>
        </p:spPr>
      </p:sp>
      <p:sp>
        <p:nvSpPr>
          <p:cNvPr id="5" name="Shape 5"/>
          <p:cNvSpPr txBox="1"/>
          <p:nvPr/>
        </p:nvSpPr>
        <p:spPr>
          <a:xfrm>
            <a:off x="502920" y="384048"/>
            <a:ext cx="11109960" cy="475488"/>
          </a:xfrm>
          <a:prstGeom prst="rect">
            <a:avLst/>
          </a:prstGeom>
          <a:noFill/>
          <a:ln>
            <a:noFill/>
          </a:ln>
        </p:spPr>
        <p:txBody>
          <a:bodyPr rtlCol="1" anchor="mid" wrap="square">
            <a:normAutofit/>
          </a:bodyPr>
          <a:lstStyle/>
          <a:p>
            <a:pPr algn="r" rtl="1"/>
            <a:r>
              <a:rPr lang="ar-EG" sz="3000" b="1">
                <a:solidFill>
                  <a:srgbClr val="0B1F33"/>
                </a:solidFill>
                <a:latin typeface="Arial"/>
                <a:ea typeface="Arial"/>
                <a:cs typeface="Arial"/>
              </a:rPr>
              <a:t>كيف يعمل ملف EXE؟</a:t>
            </a:r>
          </a:p>
        </p:txBody>
      </p:sp>
      <p:sp>
        <p:nvSpPr>
          <p:cNvPr id="6" name="Shape 6"/>
          <p:cNvSpPr txBox="1"/>
          <p:nvPr/>
        </p:nvSpPr>
        <p:spPr>
          <a:xfrm>
            <a:off x="530352" y="859536"/>
            <a:ext cx="10972800" cy="310896"/>
          </a:xfrm>
          <a:prstGeom prst="rect">
            <a:avLst/>
          </a:prstGeom>
          <a:noFill/>
          <a:ln>
            <a:noFill/>
          </a:ln>
        </p:spPr>
        <p:txBody>
          <a:bodyPr rtlCol="1" anchor="mid" wrap="square">
            <a:normAutofit/>
          </a:bodyPr>
          <a:lstStyle/>
          <a:p>
            <a:pPr algn="r" rtl="1"/>
            <a:r>
              <a:rPr lang="ar-EG" sz="1500">
                <a:solidFill>
                  <a:srgbClr val="64748B"/>
                </a:solidFill>
                <a:latin typeface="Arial"/>
                <a:ea typeface="Arial"/>
                <a:cs typeface="Arial"/>
              </a:rPr>
              <a:t>رد واضح على سؤال التشغيل</a:t>
            </a:r>
          </a:p>
        </p:txBody>
      </p:sp>
      <p:sp>
        <p:nvSpPr>
          <p:cNvPr id="7" name="Shape 7"/>
          <p:cNvSpPr/>
          <p:nvPr/>
        </p:nvSpPr>
        <p:spPr>
          <a:xfrm>
            <a:off x="731520" y="1280160"/>
            <a:ext cx="3657600" cy="3931920"/>
          </a:xfrm>
          <a:prstGeom prst="roundRect">
            <a:avLst/>
          </a:prstGeom>
          <a:solidFill>
            <a:srgbClr val="FFFFFF"/>
          </a:solidFill>
          <a:ln w="9525">
            <a:solidFill>
              <a:srgbClr val="D6E4F0"/>
            </a:solidFill>
          </a:ln>
        </p:spPr>
      </p:sp>
      <p:sp>
        <p:nvSpPr>
          <p:cNvPr id="8" name="Shape 8"/>
          <p:cNvSpPr/>
          <p:nvPr/>
        </p:nvSpPr>
        <p:spPr>
          <a:xfrm>
            <a:off x="4270248" y="1280160"/>
            <a:ext cx="118872" cy="3931920"/>
          </a:xfrm>
          <a:prstGeom prst="rect">
            <a:avLst/>
          </a:prstGeom>
          <a:solidFill>
            <a:srgbClr val="2F9E44"/>
          </a:solidFill>
          <a:ln w="9525">
            <a:solidFill>
              <a:srgbClr val="2F9E44"/>
            </a:solidFill>
          </a:ln>
        </p:spPr>
      </p:sp>
      <p:sp>
        <p:nvSpPr>
          <p:cNvPr id="9" name="Shape 9"/>
          <p:cNvSpPr txBox="1"/>
          <p:nvPr/>
        </p:nvSpPr>
        <p:spPr>
          <a:xfrm>
            <a:off x="960120" y="1444752"/>
            <a:ext cx="3154680" cy="347472"/>
          </a:xfrm>
          <a:prstGeom prst="rect">
            <a:avLst/>
          </a:prstGeom>
          <a:noFill/>
          <a:ln>
            <a:noFill/>
          </a:ln>
        </p:spPr>
        <p:txBody>
          <a:bodyPr rtlCol="1" anchor="mid" wrap="square">
            <a:normAutofit/>
          </a:bodyPr>
          <a:lstStyle/>
          <a:p>
            <a:pPr algn="r" rtl="1"/>
            <a:r>
              <a:rPr lang="ar-EG" sz="1900" b="1">
                <a:solidFill>
                  <a:srgbClr val="2F9E44"/>
                </a:solidFill>
                <a:latin typeface="Arial"/>
                <a:ea typeface="Arial"/>
                <a:cs typeface="Arial"/>
              </a:rPr>
              <a:t>الخطوات</a:t>
            </a:r>
          </a:p>
        </p:txBody>
      </p:sp>
      <p:sp>
        <p:nvSpPr>
          <p:cNvPr id="10" name="Shape 10"/>
          <p:cNvSpPr txBox="1"/>
          <p:nvPr/>
        </p:nvSpPr>
        <p:spPr>
          <a:xfrm>
            <a:off x="960120" y="1938528"/>
            <a:ext cx="3154680" cy="3127248"/>
          </a:xfrm>
          <a:prstGeom prst="rect">
            <a:avLst/>
          </a:prstGeom>
          <a:noFill/>
          <a:ln>
            <a:noFill/>
          </a:ln>
        </p:spPr>
        <p:txBody>
          <a:bodyPr rtlCol="1" anchor="mid" wrap="square">
            <a:normAutofit/>
          </a:bodyPr>
          <a:lstStyle/>
          <a:p>
            <a:pPr algn="r" rtl="1"/>
            <a:r>
              <a:rPr lang="ar-EG" sz="1300">
                <a:solidFill>
                  <a:srgbClr val="17202A"/>
                </a:solidFill>
                <a:latin typeface="Arial"/>
                <a:ea typeface="Arial"/>
                <a:cs typeface="Arial"/>
              </a:rPr>
              <a:t>• يبحث عن runtime/node.exe.</a:t>
            </a:r>
          </a:p>
          <a:p>
            <a:pPr algn="r" rtl="1"/>
            <a:r>
              <a:rPr lang="ar-EG" sz="1300">
                <a:solidFill>
                  <a:srgbClr val="17202A"/>
                </a:solidFill>
                <a:latin typeface="Arial"/>
                <a:ea typeface="Arial"/>
                <a:cs typeface="Arial"/>
              </a:rPr>
              <a:t>• يشغل app/server.mjs.</a:t>
            </a:r>
          </a:p>
          <a:p>
            <a:pPr algn="r" rtl="1"/>
            <a:r>
              <a:rPr lang="ar-EG" sz="1300">
                <a:solidFill>
                  <a:srgbClr val="17202A"/>
                </a:solidFill>
                <a:latin typeface="Arial"/>
                <a:ea typeface="Arial"/>
                <a:cs typeface="Arial"/>
              </a:rPr>
              <a:t>• ينتظر API.</a:t>
            </a:r>
          </a:p>
          <a:p>
            <a:pPr algn="r" rtl="1"/>
            <a:r>
              <a:rPr lang="ar-EG" sz="1300">
                <a:solidFill>
                  <a:srgbClr val="17202A"/>
                </a:solidFill>
                <a:latin typeface="Arial"/>
                <a:ea typeface="Arial"/>
                <a:cs typeface="Arial"/>
              </a:rPr>
              <a:t>• يفتح المتصفح.</a:t>
            </a:r>
          </a:p>
        </p:txBody>
      </p:sp>
      <p:sp>
        <p:nvSpPr>
          <p:cNvPr id="11" name="Shape 11"/>
          <p:cNvSpPr txBox="1"/>
          <p:nvPr/>
        </p:nvSpPr>
        <p:spPr>
          <a:xfrm>
            <a:off x="4663440" y="1280160"/>
            <a:ext cx="6675120" cy="3931920"/>
          </a:xfrm>
          <a:prstGeom prst="roundRect">
            <a:avLst/>
          </a:prstGeom>
          <a:solidFill>
            <a:srgbClr val="101820"/>
          </a:solidFill>
          <a:ln w="9525">
            <a:solidFill>
              <a:srgbClr val="203040"/>
            </a:solidFill>
          </a:ln>
        </p:spPr>
        <p:txBody>
          <a:bodyPr rtlCol="0" anchor="mid" wrap="square">
            <a:normAutofit/>
          </a:bodyPr>
          <a:lstStyle/>
          <a:p>
            <a:pPr algn="l"/>
            <a:r>
              <a:rPr lang="en-US" sz="1000">
                <a:solidFill>
                  <a:srgbClr val="DDE7F3"/>
                </a:solidFill>
                <a:latin typeface="Consolas"/>
                <a:ea typeface="Consolas"/>
                <a:cs typeface="Consolas"/>
              </a:rPr>
              <a:t> 30 | </a:t>
            </a:r>
          </a:p>
          <a:p>
            <a:pPr algn="l"/>
            <a:r>
              <a:rPr lang="en-US" sz="1000">
                <a:solidFill>
                  <a:srgbClr val="DDE7F3"/>
                </a:solidFill>
                <a:latin typeface="Consolas"/>
                <a:ea typeface="Consolas"/>
                <a:cs typeface="Consolas"/>
              </a:rPr>
              <a:t> 31 | Console.WriteLine($"Runtime: {nodePath}");</a:t>
            </a:r>
          </a:p>
          <a:p>
            <a:pPr algn="l"/>
            <a:r>
              <a:rPr lang="en-US" sz="1000">
                <a:solidFill>
                  <a:srgbClr val="DDE7F3"/>
                </a:solidFill>
                <a:latin typeface="Consolas"/>
                <a:ea typeface="Consolas"/>
                <a:cs typeface="Consolas"/>
              </a:rPr>
              <a:t> 32 | Console.WriteLine($"URL:     {url}");</a:t>
            </a:r>
          </a:p>
          <a:p>
            <a:pPr algn="l"/>
            <a:r>
              <a:rPr lang="en-US" sz="1000">
                <a:solidFill>
                  <a:srgbClr val="DDE7F3"/>
                </a:solidFill>
                <a:latin typeface="Consolas"/>
                <a:ea typeface="Consolas"/>
                <a:cs typeface="Consolas"/>
              </a:rPr>
              <a:t> 33 | Console.WriteLine();</a:t>
            </a:r>
          </a:p>
          <a:p>
            <a:pPr algn="l"/>
            <a:r>
              <a:rPr lang="en-US" sz="1000">
                <a:solidFill>
                  <a:srgbClr val="DDE7F3"/>
                </a:solidFill>
                <a:latin typeface="Consolas"/>
                <a:ea typeface="Consolas"/>
                <a:cs typeface="Consolas"/>
              </a:rPr>
              <a:t> 34 | Console.WriteLine("Starting local server. Keep this window open while using the project.");</a:t>
            </a:r>
          </a:p>
          <a:p>
            <a:pPr algn="l"/>
            <a:r>
              <a:rPr lang="en-US" sz="1000">
                <a:solidFill>
                  <a:srgbClr val="DDE7F3"/>
                </a:solidFill>
                <a:latin typeface="Consolas"/>
                <a:ea typeface="Consolas"/>
                <a:cs typeface="Consolas"/>
              </a:rPr>
              <a:t> 35 | </a:t>
            </a:r>
          </a:p>
          <a:p>
            <a:pPr algn="l"/>
            <a:r>
              <a:rPr lang="en-US" sz="1000">
                <a:solidFill>
                  <a:srgbClr val="DDE7F3"/>
                </a:solidFill>
                <a:latin typeface="Consolas"/>
                <a:ea typeface="Consolas"/>
                <a:cs typeface="Consolas"/>
              </a:rPr>
              <a:t> 36 | using var server = new Process();</a:t>
            </a:r>
          </a:p>
          <a:p>
            <a:pPr algn="l"/>
            <a:r>
              <a:rPr lang="en-US" sz="1000">
                <a:solidFill>
                  <a:srgbClr val="DDE7F3"/>
                </a:solidFill>
                <a:latin typeface="Consolas"/>
                <a:ea typeface="Consolas"/>
                <a:cs typeface="Consolas"/>
              </a:rPr>
              <a:t> 37 | server.StartInfo.FileName = nodePath;</a:t>
            </a:r>
          </a:p>
          <a:p>
            <a:pPr algn="l"/>
            <a:r>
              <a:rPr lang="en-US" sz="1000">
                <a:solidFill>
                  <a:srgbClr val="DDE7F3"/>
                </a:solidFill>
                <a:latin typeface="Consolas"/>
                <a:ea typeface="Consolas"/>
                <a:cs typeface="Consolas"/>
              </a:rPr>
              <a:t> 38 | server.StartInfo.Arguments = $"--no-warnings \"{serverPath}\" --port {port}";</a:t>
            </a:r>
          </a:p>
          <a:p>
            <a:pPr algn="l"/>
            <a:r>
              <a:rPr lang="en-US" sz="1000">
                <a:solidFill>
                  <a:srgbClr val="DDE7F3"/>
                </a:solidFill>
                <a:latin typeface="Consolas"/>
                <a:ea typeface="Consolas"/>
                <a:cs typeface="Consolas"/>
              </a:rPr>
              <a:t> 39 | server.StartInfo.WorkingDirectory = baseDir;</a:t>
            </a:r>
          </a:p>
          <a:p>
            <a:pPr algn="l"/>
            <a:r>
              <a:rPr lang="en-US" sz="1000">
                <a:solidFill>
                  <a:srgbClr val="DDE7F3"/>
                </a:solidFill>
                <a:latin typeface="Consolas"/>
                <a:ea typeface="Consolas"/>
                <a:cs typeface="Consolas"/>
              </a:rPr>
              <a:t> 40 | server.StartInfo.UseShellExecute = false;</a:t>
            </a:r>
          </a:p>
          <a:p>
            <a:pPr algn="l"/>
            <a:r>
              <a:rPr lang="en-US" sz="1000">
                <a:solidFill>
                  <a:srgbClr val="DDE7F3"/>
                </a:solidFill>
                <a:latin typeface="Consolas"/>
                <a:ea typeface="Consolas"/>
                <a:cs typeface="Consolas"/>
              </a:rPr>
              <a:t> 41 | server.StartInfo.RedirectStandardOutput = true;</a:t>
            </a:r>
          </a:p>
          <a:p>
            <a:pPr algn="l"/>
            <a:r>
              <a:rPr lang="en-US" sz="1000">
                <a:solidFill>
                  <a:srgbClr val="DDE7F3"/>
                </a:solidFill>
                <a:latin typeface="Consolas"/>
                <a:ea typeface="Consolas"/>
                <a:cs typeface="Consolas"/>
              </a:rPr>
              <a:t> 42 | server.StartInfo.RedirectStandardError = true;</a:t>
            </a:r>
          </a:p>
          <a:p>
            <a:pPr algn="l"/>
            <a:r>
              <a:rPr lang="en-US" sz="1000">
                <a:solidFill>
                  <a:srgbClr val="DDE7F3"/>
                </a:solidFill>
                <a:latin typeface="Consolas"/>
                <a:ea typeface="Consolas"/>
                <a:cs typeface="Consolas"/>
              </a:rPr>
              <a:t> 43 | server.StartInfo.CreateNoWindow = false;</a:t>
            </a:r>
          </a:p>
          <a:p>
            <a:pPr algn="l"/>
            <a:r>
              <a:rPr lang="en-US" sz="1000">
                <a:solidFill>
                  <a:srgbClr val="DDE7F3"/>
                </a:solidFill>
                <a:latin typeface="Consolas"/>
                <a:ea typeface="Consolas"/>
                <a:cs typeface="Consolas"/>
              </a:rPr>
              <a:t> 44 | server.OutputDataReceived += (_, e) =&gt; { if (!string.IsNullOrWhiteSpace(e.Data)) Console.WriteLine(e.Data); };</a:t>
            </a:r>
          </a:p>
          <a:p>
            <a:pPr algn="l"/>
            <a:r>
              <a:rPr lang="en-US" sz="1000">
                <a:solidFill>
                  <a:srgbClr val="DDE7F3"/>
                </a:solidFill>
                <a:latin typeface="Consolas"/>
                <a:ea typeface="Consolas"/>
                <a:cs typeface="Consolas"/>
              </a:rPr>
              <a:t> 45 | server.ErrorDataReceived += (_, e) =&gt; { if (!string.IsNullOrWhiteSpace(e.Data)) Console.Error.WriteLine(e.Data); };</a:t>
            </a:r>
          </a:p>
          <a:p>
            <a:pPr algn="l"/>
            <a:r>
              <a:rPr lang="en-US" sz="1000">
                <a:solidFill>
                  <a:srgbClr val="DDE7F3"/>
                </a:solidFill>
                <a:latin typeface="Consolas"/>
                <a:ea typeface="Consolas"/>
                <a:cs typeface="Consolas"/>
              </a:rPr>
              <a:t> 46 | </a:t>
            </a:r>
          </a:p>
          <a:p>
            <a:pPr algn="l"/>
            <a:r>
              <a:rPr lang="en-US" sz="1000">
                <a:solidFill>
                  <a:srgbClr val="DDE7F3"/>
                </a:solidFill>
                <a:latin typeface="Consolas"/>
                <a:ea typeface="Consolas"/>
                <a:cs typeface="Consolas"/>
              </a:rPr>
              <a:t> 47 | try</a:t>
            </a:r>
          </a:p>
          <a:p>
            <a:pPr algn="l"/>
            <a:r>
              <a:rPr lang="en-US" sz="1000">
                <a:solidFill>
                  <a:srgbClr val="DDE7F3"/>
                </a:solidFill>
                <a:latin typeface="Consolas"/>
                <a:ea typeface="Consolas"/>
                <a:cs typeface="Consolas"/>
              </a:rPr>
              <a:t> 48 | {</a:t>
            </a:r>
          </a:p>
          <a:p>
            <a:pPr algn="l"/>
            <a:r>
              <a:rPr lang="en-US" sz="1000">
                <a:solidFill>
                  <a:srgbClr val="DDE7F3"/>
                </a:solidFill>
                <a:latin typeface="Consolas"/>
                <a:ea typeface="Consolas"/>
                <a:cs typeface="Consolas"/>
              </a:rPr>
              <a:t> 49 |     server.Start();</a:t>
            </a:r>
          </a:p>
          <a:p>
            <a:pPr algn="l"/>
            <a:r>
              <a:rPr lang="en-US" sz="1000">
                <a:solidFill>
                  <a:srgbClr val="DDE7F3"/>
                </a:solidFill>
                <a:latin typeface="Consolas"/>
                <a:ea typeface="Consolas"/>
                <a:cs typeface="Consolas"/>
              </a:rPr>
              <a:t> 50 |     server.BeginOutputReadLine();</a:t>
            </a:r>
          </a:p>
          <a:p>
            <a:pPr algn="l"/>
            <a:r>
              <a:rPr lang="en-US" sz="1000">
                <a:solidFill>
                  <a:srgbClr val="DDE7F3"/>
                </a:solidFill>
                <a:latin typeface="Consolas"/>
                <a:ea typeface="Consolas"/>
                <a:cs typeface="Consolas"/>
              </a:rPr>
              <a:t> 51 |     server.BeginErrorReadLine();</a:t>
            </a:r>
          </a:p>
          <a:p>
            <a:pPr algn="l"/>
            <a:r>
              <a:rPr lang="en-US" sz="1000">
                <a:solidFill>
                  <a:srgbClr val="DDE7F3"/>
                </a:solidFill>
                <a:latin typeface="Consolas"/>
                <a:ea typeface="Consolas"/>
                <a:cs typeface="Consolas"/>
              </a:rPr>
              <a:t> 52 | }</a:t>
            </a:r>
          </a:p>
          <a:p>
            <a:pPr algn="l"/>
            <a:r>
              <a:rPr lang="en-US" sz="1000">
                <a:solidFill>
                  <a:srgbClr val="DDE7F3"/>
                </a:solidFill>
                <a:latin typeface="Consolas"/>
                <a:ea typeface="Consolas"/>
                <a:cs typeface="Consolas"/>
              </a:rPr>
              <a:t> 53 | catch (Exception ex)</a:t>
            </a:r>
          </a:p>
          <a:p>
            <a:pPr algn="l"/>
            <a:r>
              <a:rPr lang="en-US" sz="1000">
                <a:solidFill>
                  <a:srgbClr val="DDE7F3"/>
                </a:solidFill>
                <a:latin typeface="Consolas"/>
                <a:ea typeface="Consolas"/>
                <a:cs typeface="Consolas"/>
              </a:rPr>
              <a:t> 54 | {</a:t>
            </a:r>
          </a:p>
          <a:p>
            <a:pPr algn="l"/>
            <a:r>
              <a:rPr lang="en-US" sz="1000">
                <a:solidFill>
                  <a:srgbClr val="DDE7F3"/>
                </a:solidFill>
                <a:latin typeface="Consolas"/>
                <a:ea typeface="Consolas"/>
                <a:cs typeface="Consolas"/>
              </a:rPr>
              <a:t> 55 |     Console.WriteLine("Failed to start the local server.");</a:t>
            </a:r>
          </a:p>
          <a:p>
            <a:pPr algn="l"/>
            <a:r>
              <a:rPr lang="en-US" sz="1000">
                <a:solidFill>
                  <a:srgbClr val="DDE7F3"/>
                </a:solidFill>
                <a:latin typeface="Consolas"/>
                <a:ea typeface="Consolas"/>
                <a:cs typeface="Consolas"/>
              </a:rPr>
              <a:t> 56 |     Console.WriteLine(ex.Message);</a:t>
            </a:r>
          </a:p>
          <a:p>
            <a:pPr algn="l"/>
            <a:r>
              <a:rPr lang="en-US" sz="1000">
                <a:solidFill>
                  <a:srgbClr val="DDE7F3"/>
                </a:solidFill>
                <a:latin typeface="Consolas"/>
                <a:ea typeface="Consolas"/>
                <a:cs typeface="Consolas"/>
              </a:rPr>
              <a:t> 57 |     Pause();</a:t>
            </a:r>
          </a:p>
          <a:p>
            <a:pPr algn="l"/>
            <a:r>
              <a:rPr lang="en-US" sz="1000">
                <a:solidFill>
                  <a:srgbClr val="DDE7F3"/>
                </a:solidFill>
                <a:latin typeface="Consolas"/>
                <a:ea typeface="Consolas"/>
                <a:cs typeface="Consolas"/>
              </a:rPr>
              <a:t> 58 |     return 1;</a:t>
            </a:r>
          </a:p>
          <a:p>
            <a:pPr algn="l"/>
            <a:r>
              <a:rPr lang="en-US" sz="1000">
                <a:solidFill>
                  <a:srgbClr val="DDE7F3"/>
                </a:solidFill>
                <a:latin typeface="Consolas"/>
                <a:ea typeface="Consolas"/>
                <a:cs typeface="Consolas"/>
              </a:rPr>
              <a:t> 59 | }</a:t>
            </a:r>
          </a:p>
          <a:p>
            <a:pPr algn="l"/>
            <a:r>
              <a:rPr lang="en-US" sz="1000">
                <a:solidFill>
                  <a:srgbClr val="DDE7F3"/>
                </a:solidFill>
                <a:latin typeface="Consolas"/>
                <a:ea typeface="Consolas"/>
                <a:cs typeface="Consolas"/>
              </a:rPr>
              <a:t> 60 | </a:t>
            </a:r>
          </a:p>
        </p:txBody>
      </p:sp>
      <p:sp>
        <p:nvSpPr>
          <p:cNvPr id="12" name="Shape 12"/>
          <p:cNvSpPr txBox="1"/>
          <p:nvPr/>
        </p:nvSpPr>
        <p:spPr>
          <a:xfrm>
            <a:off x="548640" y="6327648"/>
            <a:ext cx="11064240" cy="219456"/>
          </a:xfrm>
          <a:prstGeom prst="rect">
            <a:avLst/>
          </a:prstGeom>
          <a:noFill/>
          <a:ln>
            <a:noFill/>
          </a:ln>
        </p:spPr>
        <p:txBody>
          <a:bodyPr rtlCol="0" anchor="mid" wrap="square">
            <a:normAutofit/>
          </a:bodyPr>
          <a:lstStyle/>
          <a:p>
            <a:pPr algn="ctr"/>
            <a:r>
              <a:rPr lang="en-US" sz="1000">
                <a:solidFill>
                  <a:srgbClr val="64748B"/>
                </a:solidFill>
                <a:latin typeface="Arial"/>
                <a:ea typeface="Arial"/>
                <a:cs typeface="Arial"/>
              </a:rPr>
              <a:t>Smart Retail Pro | Specialized Presentation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
          <p:cNvSpPr/>
          <p:nvPr/>
        </p:nvSpPr>
        <p:spPr>
          <a:xfrm>
            <a:off x="0" y="0"/>
            <a:ext cx="12192000" cy="6858000"/>
          </a:xfrm>
          <a:prstGeom prst="rect">
            <a:avLst/>
          </a:prstGeom>
          <a:solidFill>
            <a:srgbClr val="F7F9FB"/>
          </a:solidFill>
          <a:ln>
            <a:noFill/>
          </a:ln>
        </p:spPr>
      </p:sp>
      <p:sp>
        <p:nvSpPr>
          <p:cNvPr id="4" name="Shape 4"/>
          <p:cNvSpPr/>
          <p:nvPr/>
        </p:nvSpPr>
        <p:spPr>
          <a:xfrm>
            <a:off x="0" y="0"/>
            <a:ext cx="12192000" cy="164592"/>
          </a:xfrm>
          <a:prstGeom prst="rect">
            <a:avLst/>
          </a:prstGeom>
          <a:solidFill>
            <a:srgbClr val="F2B84B"/>
          </a:solidFill>
          <a:ln w="9525">
            <a:solidFill>
              <a:srgbClr val="F2B84B"/>
            </a:solidFill>
          </a:ln>
        </p:spPr>
      </p:sp>
      <p:sp>
        <p:nvSpPr>
          <p:cNvPr id="5" name="Shape 5"/>
          <p:cNvSpPr txBox="1"/>
          <p:nvPr/>
        </p:nvSpPr>
        <p:spPr>
          <a:xfrm>
            <a:off x="502920" y="384048"/>
            <a:ext cx="11109960" cy="475488"/>
          </a:xfrm>
          <a:prstGeom prst="rect">
            <a:avLst/>
          </a:prstGeom>
          <a:noFill/>
          <a:ln>
            <a:noFill/>
          </a:ln>
        </p:spPr>
        <p:txBody>
          <a:bodyPr rtlCol="1" anchor="mid" wrap="square">
            <a:normAutofit/>
          </a:bodyPr>
          <a:lstStyle/>
          <a:p>
            <a:pPr algn="r" rtl="1"/>
            <a:r>
              <a:rPr lang="ar-EG" sz="3000" b="1">
                <a:solidFill>
                  <a:srgbClr val="0B1F33"/>
                </a:solidFill>
                <a:latin typeface="Arial"/>
                <a:ea typeface="Arial"/>
                <a:cs typeface="Arial"/>
              </a:rPr>
              <a:t>أسئلة متوقعة وإجابات</a:t>
            </a:r>
          </a:p>
        </p:txBody>
      </p:sp>
      <p:sp>
        <p:nvSpPr>
          <p:cNvPr id="6" name="Shape 6"/>
          <p:cNvSpPr txBox="1"/>
          <p:nvPr/>
        </p:nvSpPr>
        <p:spPr>
          <a:xfrm>
            <a:off x="530352" y="859536"/>
            <a:ext cx="10972800" cy="310896"/>
          </a:xfrm>
          <a:prstGeom prst="rect">
            <a:avLst/>
          </a:prstGeom>
          <a:noFill/>
          <a:ln>
            <a:noFill/>
          </a:ln>
        </p:spPr>
        <p:txBody>
          <a:bodyPr rtlCol="1" anchor="mid" wrap="square">
            <a:normAutofit/>
          </a:bodyPr>
          <a:lstStyle/>
          <a:p>
            <a:pPr algn="r" rtl="1"/>
            <a:r>
              <a:rPr lang="ar-EG" sz="1500">
                <a:solidFill>
                  <a:srgbClr val="64748B"/>
                </a:solidFill>
                <a:latin typeface="Arial"/>
                <a:ea typeface="Arial"/>
                <a:cs typeface="Arial"/>
              </a:rPr>
              <a:t>للاستخدام أثناء المناقشة</a:t>
            </a:r>
          </a:p>
        </p:txBody>
      </p:sp>
      <p:sp>
        <p:nvSpPr>
          <p:cNvPr id="7" name="Shape 7"/>
          <p:cNvSpPr txBox="1"/>
          <p:nvPr/>
        </p:nvSpPr>
        <p:spPr>
          <a:xfrm>
            <a:off x="594360" y="1143000"/>
            <a:ext cx="4204411" cy="815340"/>
          </a:xfrm>
          <a:prstGeom prst="rect">
            <a:avLst/>
          </a:prstGeom>
          <a:solidFill>
            <a:srgbClr val="F2B84B"/>
          </a:solidFill>
          <a:ln w="9525">
            <a:solidFill>
              <a:srgbClr val="FFFFFF"/>
            </a:solidFill>
          </a:ln>
        </p:spPr>
        <p:txBody>
          <a:bodyPr rtlCol="1" anchor="mid" wrap="square">
            <a:normAutofit/>
          </a:bodyPr>
          <a:lstStyle/>
          <a:p>
            <a:pPr algn="ctr" rtl="1"/>
            <a:r>
              <a:rPr lang="ar-EG" sz="1300" b="1">
                <a:solidFill>
                  <a:srgbClr val="FFFFFF"/>
                </a:solidFill>
                <a:latin typeface="Arial"/>
                <a:ea typeface="Arial"/>
                <a:cs typeface="Arial"/>
              </a:rPr>
              <a:t>السؤال</a:t>
            </a:r>
          </a:p>
        </p:txBody>
      </p:sp>
      <p:sp>
        <p:nvSpPr>
          <p:cNvPr id="8" name="Shape 8"/>
          <p:cNvSpPr txBox="1"/>
          <p:nvPr/>
        </p:nvSpPr>
        <p:spPr>
          <a:xfrm>
            <a:off x="4798771" y="1143000"/>
            <a:ext cx="6859829" cy="815340"/>
          </a:xfrm>
          <a:prstGeom prst="rect">
            <a:avLst/>
          </a:prstGeom>
          <a:solidFill>
            <a:srgbClr val="F2B84B"/>
          </a:solidFill>
          <a:ln w="9525">
            <a:solidFill>
              <a:srgbClr val="FFFFFF"/>
            </a:solidFill>
          </a:ln>
        </p:spPr>
        <p:txBody>
          <a:bodyPr rtlCol="1" anchor="mid" wrap="square">
            <a:normAutofit/>
          </a:bodyPr>
          <a:lstStyle/>
          <a:p>
            <a:pPr algn="ctr" rtl="1"/>
            <a:r>
              <a:rPr lang="ar-EG" sz="1300" b="1">
                <a:solidFill>
                  <a:srgbClr val="FFFFFF"/>
                </a:solidFill>
                <a:latin typeface="Arial"/>
                <a:ea typeface="Arial"/>
                <a:cs typeface="Arial"/>
              </a:rPr>
              <a:t>الإجابة المختصرة</a:t>
            </a:r>
          </a:p>
        </p:txBody>
      </p:sp>
      <p:sp>
        <p:nvSpPr>
          <p:cNvPr id="9" name="Shape 9"/>
          <p:cNvSpPr txBox="1"/>
          <p:nvPr/>
        </p:nvSpPr>
        <p:spPr>
          <a:xfrm>
            <a:off x="594360" y="1958340"/>
            <a:ext cx="4204411" cy="815340"/>
          </a:xfrm>
          <a:prstGeom prst="rect">
            <a:avLst/>
          </a:prstGeom>
          <a:solidFill>
            <a:srgbClr val="FFFFFF"/>
          </a:solidFill>
          <a:ln w="9525">
            <a:solidFill>
              <a:srgbClr val="D6E4F0"/>
            </a:solidFill>
          </a:ln>
        </p:spPr>
        <p:txBody>
          <a:bodyPr rtlCol="1" anchor="mid" wrap="square">
            <a:normAutofit/>
          </a:bodyPr>
          <a:lstStyle/>
          <a:p>
            <a:pPr algn="r" rtl="1"/>
            <a:r>
              <a:rPr lang="ar-EG" sz="1050">
                <a:solidFill>
                  <a:srgbClr val="17202A"/>
                </a:solidFill>
                <a:latin typeface="Arial"/>
                <a:ea typeface="Arial"/>
                <a:cs typeface="Arial"/>
              </a:rPr>
              <a:t>هل المشروع Python؟</a:t>
            </a:r>
          </a:p>
        </p:txBody>
      </p:sp>
      <p:sp>
        <p:nvSpPr>
          <p:cNvPr id="10" name="Shape 10"/>
          <p:cNvSpPr txBox="1"/>
          <p:nvPr/>
        </p:nvSpPr>
        <p:spPr>
          <a:xfrm>
            <a:off x="4798771" y="1958340"/>
            <a:ext cx="6859829" cy="815340"/>
          </a:xfrm>
          <a:prstGeom prst="rect">
            <a:avLst/>
          </a:prstGeom>
          <a:solidFill>
            <a:srgbClr val="FFFFFF"/>
          </a:solidFill>
          <a:ln w="9525">
            <a:solidFill>
              <a:srgbClr val="D6E4F0"/>
            </a:solidFill>
          </a:ln>
        </p:spPr>
        <p:txBody>
          <a:bodyPr rtlCol="1" anchor="mid" wrap="square">
            <a:normAutofit/>
          </a:bodyPr>
          <a:lstStyle/>
          <a:p>
            <a:pPr algn="ctr" rtl="1"/>
            <a:r>
              <a:rPr lang="ar-EG" sz="1050">
                <a:solidFill>
                  <a:srgbClr val="17202A"/>
                </a:solidFill>
                <a:latin typeface="Arial"/>
                <a:ea typeface="Arial"/>
                <a:cs typeface="Arial"/>
              </a:rPr>
              <a:t>المنطق الأساسي مضاف بـ Python، والتشغيل الكامل يستخدم Node Runtime مرفق.</a:t>
            </a:r>
          </a:p>
        </p:txBody>
      </p:sp>
      <p:sp>
        <p:nvSpPr>
          <p:cNvPr id="11" name="Shape 11"/>
          <p:cNvSpPr txBox="1"/>
          <p:nvPr/>
        </p:nvSpPr>
        <p:spPr>
          <a:xfrm>
            <a:off x="594360" y="2773680"/>
            <a:ext cx="4204411" cy="815340"/>
          </a:xfrm>
          <a:prstGeom prst="rect">
            <a:avLst/>
          </a:prstGeom>
          <a:solidFill>
            <a:srgbClr val="F0F5FA"/>
          </a:solidFill>
          <a:ln w="9525">
            <a:solidFill>
              <a:srgbClr val="D6E4F0"/>
            </a:solidFill>
          </a:ln>
        </p:spPr>
        <p:txBody>
          <a:bodyPr rtlCol="1" anchor="mid" wrap="square">
            <a:normAutofit/>
          </a:bodyPr>
          <a:lstStyle/>
          <a:p>
            <a:pPr algn="r" rtl="1"/>
            <a:r>
              <a:rPr lang="ar-EG" sz="1050">
                <a:solidFill>
                  <a:srgbClr val="17202A"/>
                </a:solidFill>
                <a:latin typeface="Arial"/>
                <a:ea typeface="Arial"/>
                <a:cs typeface="Arial"/>
              </a:rPr>
              <a:t>لماذا SQLite؟</a:t>
            </a:r>
          </a:p>
        </p:txBody>
      </p:sp>
      <p:sp>
        <p:nvSpPr>
          <p:cNvPr id="12" name="Shape 12"/>
          <p:cNvSpPr txBox="1"/>
          <p:nvPr/>
        </p:nvSpPr>
        <p:spPr>
          <a:xfrm>
            <a:off x="4798771" y="2773680"/>
            <a:ext cx="6859829" cy="815340"/>
          </a:xfrm>
          <a:prstGeom prst="rect">
            <a:avLst/>
          </a:prstGeom>
          <a:solidFill>
            <a:srgbClr val="F0F5FA"/>
          </a:solidFill>
          <a:ln w="9525">
            <a:solidFill>
              <a:srgbClr val="D6E4F0"/>
            </a:solidFill>
          </a:ln>
        </p:spPr>
        <p:txBody>
          <a:bodyPr rtlCol="1" anchor="mid" wrap="square">
            <a:normAutofit/>
          </a:bodyPr>
          <a:lstStyle/>
          <a:p>
            <a:pPr algn="ctr" rtl="1"/>
            <a:r>
              <a:rPr lang="ar-EG" sz="1050">
                <a:solidFill>
                  <a:srgbClr val="17202A"/>
                </a:solidFill>
                <a:latin typeface="Arial"/>
                <a:ea typeface="Arial"/>
                <a:cs typeface="Arial"/>
              </a:rPr>
              <a:t>لأنه محلي وخفيف وسهل النقل ومناسب لمشروع قابل للتشغيل بملف واحد.</a:t>
            </a:r>
          </a:p>
        </p:txBody>
      </p:sp>
      <p:sp>
        <p:nvSpPr>
          <p:cNvPr id="13" name="Shape 13"/>
          <p:cNvSpPr txBox="1"/>
          <p:nvPr/>
        </p:nvSpPr>
        <p:spPr>
          <a:xfrm>
            <a:off x="594360" y="3589020"/>
            <a:ext cx="4204411" cy="815340"/>
          </a:xfrm>
          <a:prstGeom prst="rect">
            <a:avLst/>
          </a:prstGeom>
          <a:solidFill>
            <a:srgbClr val="FFFFFF"/>
          </a:solidFill>
          <a:ln w="9525">
            <a:solidFill>
              <a:srgbClr val="D6E4F0"/>
            </a:solidFill>
          </a:ln>
        </p:spPr>
        <p:txBody>
          <a:bodyPr rtlCol="1" anchor="mid" wrap="square">
            <a:normAutofit/>
          </a:bodyPr>
          <a:lstStyle/>
          <a:p>
            <a:pPr algn="r" rtl="1"/>
            <a:r>
              <a:rPr lang="ar-EG" sz="1050">
                <a:solidFill>
                  <a:srgbClr val="17202A"/>
                </a:solidFill>
                <a:latin typeface="Arial"/>
                <a:ea typeface="Arial"/>
                <a:cs typeface="Arial"/>
              </a:rPr>
              <a:t>هل يعمل دون Node؟</a:t>
            </a:r>
          </a:p>
        </p:txBody>
      </p:sp>
      <p:sp>
        <p:nvSpPr>
          <p:cNvPr id="14" name="Shape 14"/>
          <p:cNvSpPr txBox="1"/>
          <p:nvPr/>
        </p:nvSpPr>
        <p:spPr>
          <a:xfrm>
            <a:off x="4798771" y="3589020"/>
            <a:ext cx="6859829" cy="815340"/>
          </a:xfrm>
          <a:prstGeom prst="rect">
            <a:avLst/>
          </a:prstGeom>
          <a:solidFill>
            <a:srgbClr val="FFFFFF"/>
          </a:solidFill>
          <a:ln w="9525">
            <a:solidFill>
              <a:srgbClr val="D6E4F0"/>
            </a:solidFill>
          </a:ln>
        </p:spPr>
        <p:txBody>
          <a:bodyPr rtlCol="1" anchor="mid" wrap="square">
            <a:normAutofit/>
          </a:bodyPr>
          <a:lstStyle/>
          <a:p>
            <a:pPr algn="ctr" rtl="1"/>
            <a:r>
              <a:rPr lang="ar-EG" sz="1050">
                <a:solidFill>
                  <a:srgbClr val="17202A"/>
                </a:solidFill>
                <a:latin typeface="Arial"/>
                <a:ea typeface="Arial"/>
                <a:cs typeface="Arial"/>
              </a:rPr>
              <a:t>نعم، لأن node.exe مرفق داخل runtime.</a:t>
            </a:r>
          </a:p>
        </p:txBody>
      </p:sp>
      <p:sp>
        <p:nvSpPr>
          <p:cNvPr id="15" name="Shape 15"/>
          <p:cNvSpPr txBox="1"/>
          <p:nvPr/>
        </p:nvSpPr>
        <p:spPr>
          <a:xfrm>
            <a:off x="594360" y="4404360"/>
            <a:ext cx="4204411" cy="815340"/>
          </a:xfrm>
          <a:prstGeom prst="rect">
            <a:avLst/>
          </a:prstGeom>
          <a:solidFill>
            <a:srgbClr val="F0F5FA"/>
          </a:solidFill>
          <a:ln w="9525">
            <a:solidFill>
              <a:srgbClr val="D6E4F0"/>
            </a:solidFill>
          </a:ln>
        </p:spPr>
        <p:txBody>
          <a:bodyPr rtlCol="1" anchor="mid" wrap="square">
            <a:normAutofit/>
          </a:bodyPr>
          <a:lstStyle/>
          <a:p>
            <a:pPr algn="r" rtl="1"/>
            <a:r>
              <a:rPr lang="ar-EG" sz="1050">
                <a:solidFill>
                  <a:srgbClr val="17202A"/>
                </a:solidFill>
                <a:latin typeface="Arial"/>
                <a:ea typeface="Arial"/>
                <a:cs typeface="Arial"/>
              </a:rPr>
              <a:t>كيف تحمي SQL؟</a:t>
            </a:r>
          </a:p>
        </p:txBody>
      </p:sp>
      <p:sp>
        <p:nvSpPr>
          <p:cNvPr id="16" name="Shape 16"/>
          <p:cNvSpPr txBox="1"/>
          <p:nvPr/>
        </p:nvSpPr>
        <p:spPr>
          <a:xfrm>
            <a:off x="4798771" y="4404360"/>
            <a:ext cx="6859829" cy="815340"/>
          </a:xfrm>
          <a:prstGeom prst="rect">
            <a:avLst/>
          </a:prstGeom>
          <a:solidFill>
            <a:srgbClr val="F0F5FA"/>
          </a:solidFill>
          <a:ln w="9525">
            <a:solidFill>
              <a:srgbClr val="D6E4F0"/>
            </a:solidFill>
          </a:ln>
        </p:spPr>
        <p:txBody>
          <a:bodyPr rtlCol="1" anchor="mid" wrap="square">
            <a:normAutofit/>
          </a:bodyPr>
          <a:lstStyle/>
          <a:p>
            <a:pPr algn="ctr" rtl="1"/>
            <a:r>
              <a:rPr lang="ar-EG" sz="1050">
                <a:solidFill>
                  <a:srgbClr val="17202A"/>
                </a:solidFill>
                <a:latin typeface="Arial"/>
                <a:ea typeface="Arial"/>
                <a:cs typeface="Arial"/>
              </a:rPr>
              <a:t>الواجهة تقبل SELECT/WITH/PRAGMA فقط.</a:t>
            </a:r>
          </a:p>
        </p:txBody>
      </p:sp>
      <p:sp>
        <p:nvSpPr>
          <p:cNvPr id="17" name="Shape 17"/>
          <p:cNvSpPr txBox="1"/>
          <p:nvPr/>
        </p:nvSpPr>
        <p:spPr>
          <a:xfrm>
            <a:off x="594360" y="5219700"/>
            <a:ext cx="4204411" cy="815340"/>
          </a:xfrm>
          <a:prstGeom prst="rect">
            <a:avLst/>
          </a:prstGeom>
          <a:solidFill>
            <a:srgbClr val="FFFFFF"/>
          </a:solidFill>
          <a:ln w="9525">
            <a:solidFill>
              <a:srgbClr val="D6E4F0"/>
            </a:solidFill>
          </a:ln>
        </p:spPr>
        <p:txBody>
          <a:bodyPr rtlCol="1" anchor="mid" wrap="square">
            <a:normAutofit/>
          </a:bodyPr>
          <a:lstStyle/>
          <a:p>
            <a:pPr algn="r" rtl="1"/>
            <a:r>
              <a:rPr lang="ar-EG" sz="1050">
                <a:solidFill>
                  <a:srgbClr val="17202A"/>
                </a:solidFill>
                <a:latin typeface="Arial"/>
                <a:ea typeface="Arial"/>
                <a:cs typeface="Arial"/>
              </a:rPr>
              <a:t>هل البيانات حقيقية؟</a:t>
            </a:r>
          </a:p>
        </p:txBody>
      </p:sp>
      <p:sp>
        <p:nvSpPr>
          <p:cNvPr id="18" name="Shape 18"/>
          <p:cNvSpPr txBox="1"/>
          <p:nvPr/>
        </p:nvSpPr>
        <p:spPr>
          <a:xfrm>
            <a:off x="4798771" y="5219700"/>
            <a:ext cx="6859829" cy="815340"/>
          </a:xfrm>
          <a:prstGeom prst="rect">
            <a:avLst/>
          </a:prstGeom>
          <a:solidFill>
            <a:srgbClr val="FFFFFF"/>
          </a:solidFill>
          <a:ln w="9525">
            <a:solidFill>
              <a:srgbClr val="D6E4F0"/>
            </a:solidFill>
          </a:ln>
        </p:spPr>
        <p:txBody>
          <a:bodyPr rtlCol="1" anchor="mid" wrap="square">
            <a:normAutofit/>
          </a:bodyPr>
          <a:lstStyle/>
          <a:p>
            <a:pPr algn="ctr" rtl="1"/>
            <a:r>
              <a:rPr lang="ar-EG" sz="1050">
                <a:solidFill>
                  <a:srgbClr val="17202A"/>
                </a:solidFill>
                <a:latin typeface="Arial"/>
                <a:ea typeface="Arial"/>
                <a:cs typeface="Arial"/>
              </a:rPr>
              <a:t>بيانات مولدة واقعيًا لمحاكاة retail مع أخطاء جودة مقصودة.</a:t>
            </a:r>
          </a:p>
        </p:txBody>
      </p:sp>
      <p:sp>
        <p:nvSpPr>
          <p:cNvPr id="19" name="Shape 19"/>
          <p:cNvSpPr txBox="1"/>
          <p:nvPr/>
        </p:nvSpPr>
        <p:spPr>
          <a:xfrm>
            <a:off x="548640" y="6327648"/>
            <a:ext cx="11064240" cy="219456"/>
          </a:xfrm>
          <a:prstGeom prst="rect">
            <a:avLst/>
          </a:prstGeom>
          <a:noFill/>
          <a:ln>
            <a:noFill/>
          </a:ln>
        </p:spPr>
        <p:txBody>
          <a:bodyPr rtlCol="0" anchor="mid" wrap="square">
            <a:normAutofit/>
          </a:bodyPr>
          <a:lstStyle/>
          <a:p>
            <a:pPr algn="ctr"/>
            <a:r>
              <a:rPr lang="en-US" sz="1000">
                <a:solidFill>
                  <a:srgbClr val="64748B"/>
                </a:solidFill>
                <a:latin typeface="Arial"/>
                <a:ea typeface="Arial"/>
                <a:cs typeface="Arial"/>
              </a:rPr>
              <a:t>Smart Retail Pro | Specialized Presentation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
          <p:cNvSpPr/>
          <p:nvPr/>
        </p:nvSpPr>
        <p:spPr>
          <a:xfrm>
            <a:off x="0" y="0"/>
            <a:ext cx="12192000" cy="6858000"/>
          </a:xfrm>
          <a:prstGeom prst="rect">
            <a:avLst/>
          </a:prstGeom>
          <a:solidFill>
            <a:srgbClr val="F7F9FB"/>
          </a:solidFill>
          <a:ln>
            <a:noFill/>
          </a:ln>
        </p:spPr>
      </p:sp>
      <p:sp>
        <p:nvSpPr>
          <p:cNvPr id="4" name="Shape 4"/>
          <p:cNvSpPr/>
          <p:nvPr/>
        </p:nvSpPr>
        <p:spPr>
          <a:xfrm>
            <a:off x="0" y="0"/>
            <a:ext cx="12192000" cy="164592"/>
          </a:xfrm>
          <a:prstGeom prst="rect">
            <a:avLst/>
          </a:prstGeom>
          <a:solidFill>
            <a:srgbClr val="F2B84B"/>
          </a:solidFill>
          <a:ln w="9525">
            <a:solidFill>
              <a:srgbClr val="F2B84B"/>
            </a:solidFill>
          </a:ln>
        </p:spPr>
      </p:sp>
      <p:sp>
        <p:nvSpPr>
          <p:cNvPr id="5" name="Shape 5"/>
          <p:cNvSpPr txBox="1"/>
          <p:nvPr/>
        </p:nvSpPr>
        <p:spPr>
          <a:xfrm>
            <a:off x="502920" y="384048"/>
            <a:ext cx="11109960" cy="475488"/>
          </a:xfrm>
          <a:prstGeom prst="rect">
            <a:avLst/>
          </a:prstGeom>
          <a:noFill/>
          <a:ln>
            <a:noFill/>
          </a:ln>
        </p:spPr>
        <p:txBody>
          <a:bodyPr rtlCol="1" anchor="mid" wrap="square">
            <a:normAutofit/>
          </a:bodyPr>
          <a:lstStyle/>
          <a:p>
            <a:pPr algn="r" rtl="1"/>
            <a:r>
              <a:rPr lang="ar-EG" sz="3000" b="1">
                <a:solidFill>
                  <a:srgbClr val="0B1F33"/>
                </a:solidFill>
                <a:latin typeface="Arial"/>
                <a:ea typeface="Arial"/>
                <a:cs typeface="Arial"/>
              </a:rPr>
              <a:t>نقاط القوة</a:t>
            </a:r>
          </a:p>
        </p:txBody>
      </p:sp>
      <p:sp>
        <p:nvSpPr>
          <p:cNvPr id="6" name="Shape 6"/>
          <p:cNvSpPr txBox="1"/>
          <p:nvPr/>
        </p:nvSpPr>
        <p:spPr>
          <a:xfrm>
            <a:off x="530352" y="859536"/>
            <a:ext cx="10972800" cy="310896"/>
          </a:xfrm>
          <a:prstGeom prst="rect">
            <a:avLst/>
          </a:prstGeom>
          <a:noFill/>
          <a:ln>
            <a:noFill/>
          </a:ln>
        </p:spPr>
        <p:txBody>
          <a:bodyPr rtlCol="1" anchor="mid" wrap="square">
            <a:normAutofit/>
          </a:bodyPr>
          <a:lstStyle/>
          <a:p>
            <a:pPr algn="r" rtl="1"/>
            <a:r>
              <a:rPr lang="ar-EG" sz="1500">
                <a:solidFill>
                  <a:srgbClr val="64748B"/>
                </a:solidFill>
                <a:latin typeface="Arial"/>
                <a:ea typeface="Arial"/>
                <a:cs typeface="Arial"/>
              </a:rPr>
              <a:t>ما الذي يجب التأكيد عليه؟</a:t>
            </a:r>
          </a:p>
        </p:txBody>
      </p:sp>
      <p:sp>
        <p:nvSpPr>
          <p:cNvPr id="7" name="Shape 7"/>
          <p:cNvSpPr/>
          <p:nvPr/>
        </p:nvSpPr>
        <p:spPr>
          <a:xfrm>
            <a:off x="731520" y="1325880"/>
            <a:ext cx="3383280" cy="3566160"/>
          </a:xfrm>
          <a:prstGeom prst="roundRect">
            <a:avLst/>
          </a:prstGeom>
          <a:solidFill>
            <a:srgbClr val="FFFFFF"/>
          </a:solidFill>
          <a:ln w="9525">
            <a:solidFill>
              <a:srgbClr val="D6E4F0"/>
            </a:solidFill>
          </a:ln>
        </p:spPr>
      </p:sp>
      <p:sp>
        <p:nvSpPr>
          <p:cNvPr id="8" name="Shape 8"/>
          <p:cNvSpPr/>
          <p:nvPr/>
        </p:nvSpPr>
        <p:spPr>
          <a:xfrm>
            <a:off x="3995928" y="1325880"/>
            <a:ext cx="118872" cy="3566160"/>
          </a:xfrm>
          <a:prstGeom prst="rect">
            <a:avLst/>
          </a:prstGeom>
          <a:solidFill>
            <a:srgbClr val="2F9E44"/>
          </a:solidFill>
          <a:ln w="9525">
            <a:solidFill>
              <a:srgbClr val="2F9E44"/>
            </a:solidFill>
          </a:ln>
        </p:spPr>
      </p:sp>
      <p:sp>
        <p:nvSpPr>
          <p:cNvPr id="9" name="Shape 9"/>
          <p:cNvSpPr txBox="1"/>
          <p:nvPr/>
        </p:nvSpPr>
        <p:spPr>
          <a:xfrm>
            <a:off x="960120" y="1490472"/>
            <a:ext cx="2880360" cy="347472"/>
          </a:xfrm>
          <a:prstGeom prst="rect">
            <a:avLst/>
          </a:prstGeom>
          <a:noFill/>
          <a:ln>
            <a:noFill/>
          </a:ln>
        </p:spPr>
        <p:txBody>
          <a:bodyPr rtlCol="1" anchor="mid" wrap="square">
            <a:normAutofit/>
          </a:bodyPr>
          <a:lstStyle/>
          <a:p>
            <a:pPr algn="r" rtl="1"/>
            <a:r>
              <a:rPr lang="ar-EG" sz="1900" b="1">
                <a:solidFill>
                  <a:srgbClr val="2F9E44"/>
                </a:solidFill>
                <a:latin typeface="Arial"/>
                <a:ea typeface="Arial"/>
                <a:cs typeface="Arial"/>
              </a:rPr>
              <a:t>اكتمال</a:t>
            </a:r>
          </a:p>
        </p:txBody>
      </p:sp>
      <p:sp>
        <p:nvSpPr>
          <p:cNvPr id="10" name="Shape 10"/>
          <p:cNvSpPr txBox="1"/>
          <p:nvPr/>
        </p:nvSpPr>
        <p:spPr>
          <a:xfrm>
            <a:off x="960120" y="1984248"/>
            <a:ext cx="2880360" cy="2761488"/>
          </a:xfrm>
          <a:prstGeom prst="rect">
            <a:avLst/>
          </a:prstGeom>
          <a:noFill/>
          <a:ln>
            <a:noFill/>
          </a:ln>
        </p:spPr>
        <p:txBody>
          <a:bodyPr rtlCol="1" anchor="mid" wrap="square">
            <a:normAutofit/>
          </a:bodyPr>
          <a:lstStyle/>
          <a:p>
            <a:pPr algn="r" rtl="1"/>
            <a:r>
              <a:rPr lang="ar-EG" sz="1300">
                <a:solidFill>
                  <a:srgbClr val="17202A"/>
                </a:solidFill>
                <a:latin typeface="Arial"/>
                <a:ea typeface="Arial"/>
                <a:cs typeface="Arial"/>
              </a:rPr>
              <a:t>• بيانات، Pipeline، SQLite، واجهة، تقارير، EXE.</a:t>
            </a:r>
          </a:p>
        </p:txBody>
      </p:sp>
      <p:sp>
        <p:nvSpPr>
          <p:cNvPr id="11" name="Shape 11"/>
          <p:cNvSpPr/>
          <p:nvPr/>
        </p:nvSpPr>
        <p:spPr>
          <a:xfrm>
            <a:off x="4389120" y="1325880"/>
            <a:ext cx="3383280" cy="3566160"/>
          </a:xfrm>
          <a:prstGeom prst="roundRect">
            <a:avLst/>
          </a:prstGeom>
          <a:solidFill>
            <a:srgbClr val="FFFFFF"/>
          </a:solidFill>
          <a:ln w="9525">
            <a:solidFill>
              <a:srgbClr val="D6E4F0"/>
            </a:solidFill>
          </a:ln>
        </p:spPr>
      </p:sp>
      <p:sp>
        <p:nvSpPr>
          <p:cNvPr id="12" name="Shape 12"/>
          <p:cNvSpPr/>
          <p:nvPr/>
        </p:nvSpPr>
        <p:spPr>
          <a:xfrm>
            <a:off x="7653528" y="1325880"/>
            <a:ext cx="118872" cy="3566160"/>
          </a:xfrm>
          <a:prstGeom prst="rect">
            <a:avLst/>
          </a:prstGeom>
          <a:solidFill>
            <a:srgbClr val="1F4E79"/>
          </a:solidFill>
          <a:ln w="9525">
            <a:solidFill>
              <a:srgbClr val="1F4E79"/>
            </a:solidFill>
          </a:ln>
        </p:spPr>
      </p:sp>
      <p:sp>
        <p:nvSpPr>
          <p:cNvPr id="13" name="Shape 13"/>
          <p:cNvSpPr txBox="1"/>
          <p:nvPr/>
        </p:nvSpPr>
        <p:spPr>
          <a:xfrm>
            <a:off x="4617720" y="1490472"/>
            <a:ext cx="2880360" cy="347472"/>
          </a:xfrm>
          <a:prstGeom prst="rect">
            <a:avLst/>
          </a:prstGeom>
          <a:noFill/>
          <a:ln>
            <a:noFill/>
          </a:ln>
        </p:spPr>
        <p:txBody>
          <a:bodyPr rtlCol="1" anchor="mid" wrap="square">
            <a:normAutofit/>
          </a:bodyPr>
          <a:lstStyle/>
          <a:p>
            <a:pPr algn="r" rtl="1"/>
            <a:r>
              <a:rPr lang="ar-EG" sz="1900" b="1">
                <a:solidFill>
                  <a:srgbClr val="1F4E79"/>
                </a:solidFill>
                <a:latin typeface="Arial"/>
                <a:ea typeface="Arial"/>
                <a:cs typeface="Arial"/>
              </a:rPr>
              <a:t>قابلية الشرح</a:t>
            </a:r>
          </a:p>
        </p:txBody>
      </p:sp>
      <p:sp>
        <p:nvSpPr>
          <p:cNvPr id="14" name="Shape 14"/>
          <p:cNvSpPr txBox="1"/>
          <p:nvPr/>
        </p:nvSpPr>
        <p:spPr>
          <a:xfrm>
            <a:off x="4617720" y="1984248"/>
            <a:ext cx="2880360" cy="2761488"/>
          </a:xfrm>
          <a:prstGeom prst="rect">
            <a:avLst/>
          </a:prstGeom>
          <a:noFill/>
          <a:ln>
            <a:noFill/>
          </a:ln>
        </p:spPr>
        <p:txBody>
          <a:bodyPr rtlCol="1" anchor="mid" wrap="square">
            <a:normAutofit/>
          </a:bodyPr>
          <a:lstStyle/>
          <a:p>
            <a:pPr algn="r" rtl="1"/>
            <a:r>
              <a:rPr lang="ar-EG" sz="1300">
                <a:solidFill>
                  <a:srgbClr val="17202A"/>
                </a:solidFill>
                <a:latin typeface="Arial"/>
                <a:ea typeface="Arial"/>
                <a:cs typeface="Arial"/>
              </a:rPr>
              <a:t>• عروض، تقرير Word، عرض أكواد، Q&amp;A.</a:t>
            </a:r>
          </a:p>
        </p:txBody>
      </p:sp>
      <p:sp>
        <p:nvSpPr>
          <p:cNvPr id="15" name="Shape 15"/>
          <p:cNvSpPr/>
          <p:nvPr/>
        </p:nvSpPr>
        <p:spPr>
          <a:xfrm>
            <a:off x="8046720" y="1325880"/>
            <a:ext cx="3383280" cy="3566160"/>
          </a:xfrm>
          <a:prstGeom prst="roundRect">
            <a:avLst/>
          </a:prstGeom>
          <a:solidFill>
            <a:srgbClr val="FFFFFF"/>
          </a:solidFill>
          <a:ln w="9525">
            <a:solidFill>
              <a:srgbClr val="D6E4F0"/>
            </a:solidFill>
          </a:ln>
        </p:spPr>
      </p:sp>
      <p:sp>
        <p:nvSpPr>
          <p:cNvPr id="16" name="Shape 16"/>
          <p:cNvSpPr/>
          <p:nvPr/>
        </p:nvSpPr>
        <p:spPr>
          <a:xfrm>
            <a:off x="11311128" y="1325880"/>
            <a:ext cx="118872" cy="3566160"/>
          </a:xfrm>
          <a:prstGeom prst="rect">
            <a:avLst/>
          </a:prstGeom>
          <a:solidFill>
            <a:srgbClr val="F2B84B"/>
          </a:solidFill>
          <a:ln w="9525">
            <a:solidFill>
              <a:srgbClr val="F2B84B"/>
            </a:solidFill>
          </a:ln>
        </p:spPr>
      </p:sp>
      <p:sp>
        <p:nvSpPr>
          <p:cNvPr id="17" name="Shape 17"/>
          <p:cNvSpPr txBox="1"/>
          <p:nvPr/>
        </p:nvSpPr>
        <p:spPr>
          <a:xfrm>
            <a:off x="8275320" y="1490472"/>
            <a:ext cx="2880360" cy="347472"/>
          </a:xfrm>
          <a:prstGeom prst="rect">
            <a:avLst/>
          </a:prstGeom>
          <a:noFill/>
          <a:ln>
            <a:noFill/>
          </a:ln>
        </p:spPr>
        <p:txBody>
          <a:bodyPr rtlCol="1" anchor="mid" wrap="square">
            <a:normAutofit/>
          </a:bodyPr>
          <a:lstStyle/>
          <a:p>
            <a:pPr algn="r" rtl="1"/>
            <a:r>
              <a:rPr lang="ar-EG" sz="1900" b="1">
                <a:solidFill>
                  <a:srgbClr val="F2B84B"/>
                </a:solidFill>
                <a:latin typeface="Arial"/>
                <a:ea typeface="Arial"/>
                <a:cs typeface="Arial"/>
              </a:rPr>
              <a:t>احترافية</a:t>
            </a:r>
          </a:p>
        </p:txBody>
      </p:sp>
      <p:sp>
        <p:nvSpPr>
          <p:cNvPr id="18" name="Shape 18"/>
          <p:cNvSpPr txBox="1"/>
          <p:nvPr/>
        </p:nvSpPr>
        <p:spPr>
          <a:xfrm>
            <a:off x="8275320" y="1984248"/>
            <a:ext cx="2880360" cy="2761488"/>
          </a:xfrm>
          <a:prstGeom prst="rect">
            <a:avLst/>
          </a:prstGeom>
          <a:noFill/>
          <a:ln>
            <a:noFill/>
          </a:ln>
        </p:spPr>
        <p:txBody>
          <a:bodyPr rtlCol="1" anchor="mid" wrap="square">
            <a:normAutofit/>
          </a:bodyPr>
          <a:lstStyle/>
          <a:p>
            <a:pPr algn="r" rtl="1"/>
            <a:r>
              <a:rPr lang="ar-EG" sz="1300">
                <a:solidFill>
                  <a:srgbClr val="17202A"/>
                </a:solidFill>
                <a:latin typeface="Arial"/>
                <a:ea typeface="Arial"/>
                <a:cs typeface="Arial"/>
              </a:rPr>
              <a:t>• UX، اختبارات، تشغيل محمول، Python.</a:t>
            </a:r>
          </a:p>
        </p:txBody>
      </p:sp>
      <p:sp>
        <p:nvSpPr>
          <p:cNvPr id="19" name="Shape 19"/>
          <p:cNvSpPr txBox="1"/>
          <p:nvPr/>
        </p:nvSpPr>
        <p:spPr>
          <a:xfrm>
            <a:off x="548640" y="6327648"/>
            <a:ext cx="11064240" cy="219456"/>
          </a:xfrm>
          <a:prstGeom prst="rect">
            <a:avLst/>
          </a:prstGeom>
          <a:noFill/>
          <a:ln>
            <a:noFill/>
          </a:ln>
        </p:spPr>
        <p:txBody>
          <a:bodyPr rtlCol="0" anchor="mid" wrap="square">
            <a:normAutofit/>
          </a:bodyPr>
          <a:lstStyle/>
          <a:p>
            <a:pPr algn="ctr"/>
            <a:r>
              <a:rPr lang="en-US" sz="1000">
                <a:solidFill>
                  <a:srgbClr val="64748B"/>
                </a:solidFill>
                <a:latin typeface="Arial"/>
                <a:ea typeface="Arial"/>
                <a:cs typeface="Arial"/>
              </a:rPr>
              <a:t>Smart Retail Pro | Specialized Presentation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3"/>
          <p:cNvSpPr/>
          <p:nvPr/>
        </p:nvSpPr>
        <p:spPr>
          <a:xfrm>
            <a:off x="0" y="0"/>
            <a:ext cx="12192000" cy="6858000"/>
          </a:xfrm>
          <a:prstGeom prst="rect">
            <a:avLst/>
          </a:prstGeom>
          <a:solidFill>
            <a:srgbClr val="F7F9FB"/>
          </a:solidFill>
          <a:ln>
            <a:noFill/>
          </a:ln>
        </p:spPr>
      </p:sp>
      <p:sp>
        <p:nvSpPr>
          <p:cNvPr id="4" name="Shape 4"/>
          <p:cNvSpPr/>
          <p:nvPr/>
        </p:nvSpPr>
        <p:spPr>
          <a:xfrm>
            <a:off x="0" y="0"/>
            <a:ext cx="12192000" cy="164592"/>
          </a:xfrm>
          <a:prstGeom prst="rect">
            <a:avLst/>
          </a:prstGeom>
          <a:solidFill>
            <a:srgbClr val="F2B84B"/>
          </a:solidFill>
          <a:ln w="9525">
            <a:solidFill>
              <a:srgbClr val="F2B84B"/>
            </a:solidFill>
          </a:ln>
        </p:spPr>
      </p:sp>
      <p:sp>
        <p:nvSpPr>
          <p:cNvPr id="5" name="Shape 5"/>
          <p:cNvSpPr txBox="1"/>
          <p:nvPr/>
        </p:nvSpPr>
        <p:spPr>
          <a:xfrm>
            <a:off x="502920" y="384048"/>
            <a:ext cx="11109960" cy="475488"/>
          </a:xfrm>
          <a:prstGeom prst="rect">
            <a:avLst/>
          </a:prstGeom>
          <a:noFill/>
          <a:ln>
            <a:noFill/>
          </a:ln>
        </p:spPr>
        <p:txBody>
          <a:bodyPr rtlCol="1" anchor="mid" wrap="square">
            <a:normAutofit/>
          </a:bodyPr>
          <a:lstStyle/>
          <a:p>
            <a:pPr algn="r" rtl="1"/>
            <a:r>
              <a:rPr lang="ar-EG" sz="3000" b="1">
                <a:solidFill>
                  <a:srgbClr val="0B1F33"/>
                </a:solidFill>
                <a:latin typeface="Arial"/>
                <a:ea typeface="Arial"/>
                <a:cs typeface="Arial"/>
              </a:rPr>
              <a:t>خلاصة الدفاع</a:t>
            </a:r>
          </a:p>
        </p:txBody>
      </p:sp>
      <p:sp>
        <p:nvSpPr>
          <p:cNvPr id="6" name="Shape 6"/>
          <p:cNvSpPr txBox="1"/>
          <p:nvPr/>
        </p:nvSpPr>
        <p:spPr>
          <a:xfrm>
            <a:off x="530352" y="859536"/>
            <a:ext cx="10972800" cy="310896"/>
          </a:xfrm>
          <a:prstGeom prst="rect">
            <a:avLst/>
          </a:prstGeom>
          <a:noFill/>
          <a:ln>
            <a:noFill/>
          </a:ln>
        </p:spPr>
        <p:txBody>
          <a:bodyPr rtlCol="1" anchor="mid" wrap="square">
            <a:normAutofit/>
          </a:bodyPr>
          <a:lstStyle/>
          <a:p>
            <a:pPr algn="r" rtl="1"/>
            <a:r>
              <a:rPr lang="ar-EG" sz="1500">
                <a:solidFill>
                  <a:srgbClr val="64748B"/>
                </a:solidFill>
                <a:latin typeface="Arial"/>
                <a:ea typeface="Arial"/>
                <a:cs typeface="Arial"/>
              </a:rPr>
              <a:t>النقاط الأساسية التي يجب تذكرها</a:t>
            </a:r>
          </a:p>
        </p:txBody>
      </p:sp>
      <p:sp>
        <p:nvSpPr>
          <p:cNvPr id="7" name="Shape 7"/>
          <p:cNvSpPr/>
          <p:nvPr/>
        </p:nvSpPr>
        <p:spPr>
          <a:xfrm>
            <a:off x="1051560" y="1417320"/>
            <a:ext cx="10012680" cy="3977640"/>
          </a:xfrm>
          <a:prstGeom prst="roundRect">
            <a:avLst/>
          </a:prstGeom>
          <a:solidFill>
            <a:srgbClr val="FFFFFF"/>
          </a:solidFill>
          <a:ln w="9525">
            <a:solidFill>
              <a:srgbClr val="D6E4F0"/>
            </a:solidFill>
          </a:ln>
        </p:spPr>
      </p:sp>
      <p:sp>
        <p:nvSpPr>
          <p:cNvPr id="8" name="Shape 8"/>
          <p:cNvSpPr/>
          <p:nvPr/>
        </p:nvSpPr>
        <p:spPr>
          <a:xfrm>
            <a:off x="10945368" y="1417320"/>
            <a:ext cx="118872" cy="3977640"/>
          </a:xfrm>
          <a:prstGeom prst="rect">
            <a:avLst/>
          </a:prstGeom>
          <a:solidFill>
            <a:srgbClr val="F2B84B"/>
          </a:solidFill>
          <a:ln w="9525">
            <a:solidFill>
              <a:srgbClr val="F2B84B"/>
            </a:solidFill>
          </a:ln>
        </p:spPr>
      </p:sp>
      <p:sp>
        <p:nvSpPr>
          <p:cNvPr id="9" name="Shape 9"/>
          <p:cNvSpPr txBox="1"/>
          <p:nvPr/>
        </p:nvSpPr>
        <p:spPr>
          <a:xfrm>
            <a:off x="1280160" y="1581912"/>
            <a:ext cx="9509760" cy="347472"/>
          </a:xfrm>
          <a:prstGeom prst="rect">
            <a:avLst/>
          </a:prstGeom>
          <a:noFill/>
          <a:ln>
            <a:noFill/>
          </a:ln>
        </p:spPr>
        <p:txBody>
          <a:bodyPr rtlCol="1" anchor="mid" wrap="square">
            <a:normAutofit/>
          </a:bodyPr>
          <a:lstStyle/>
          <a:p>
            <a:pPr algn="r" rtl="1"/>
            <a:r>
              <a:rPr lang="ar-EG" sz="1900" b="1">
                <a:solidFill>
                  <a:srgbClr val="F2B84B"/>
                </a:solidFill>
                <a:latin typeface="Arial"/>
                <a:ea typeface="Arial"/>
                <a:cs typeface="Arial"/>
              </a:rPr>
              <a:t>الخلاصة</a:t>
            </a:r>
          </a:p>
        </p:txBody>
      </p:sp>
      <p:sp>
        <p:nvSpPr>
          <p:cNvPr id="10" name="Shape 10"/>
          <p:cNvSpPr txBox="1"/>
          <p:nvPr/>
        </p:nvSpPr>
        <p:spPr>
          <a:xfrm>
            <a:off x="1280160" y="2075688"/>
            <a:ext cx="9509760" cy="3172968"/>
          </a:xfrm>
          <a:prstGeom prst="rect">
            <a:avLst/>
          </a:prstGeom>
          <a:noFill/>
          <a:ln>
            <a:noFill/>
          </a:ln>
        </p:spPr>
        <p:txBody>
          <a:bodyPr rtlCol="1" anchor="mid" wrap="square">
            <a:normAutofit/>
          </a:bodyPr>
          <a:lstStyle/>
          <a:p>
            <a:pPr algn="r" rtl="1"/>
            <a:r>
              <a:rPr lang="ar-EG" sz="1300">
                <a:solidFill>
                  <a:srgbClr val="17202A"/>
                </a:solidFill>
                <a:latin typeface="Arial"/>
                <a:ea typeface="Arial"/>
                <a:cs typeface="Arial"/>
              </a:rPr>
              <a:t>• اشرح المشروع كتدفق بيانات لا كملفات متفرقة.</a:t>
            </a:r>
          </a:p>
          <a:p>
            <a:pPr algn="r" rtl="1"/>
            <a:r>
              <a:rPr lang="ar-EG" sz="1300">
                <a:solidFill>
                  <a:srgbClr val="17202A"/>
                </a:solidFill>
                <a:latin typeface="Arial"/>
                <a:ea typeface="Arial"/>
                <a:cs typeface="Arial"/>
              </a:rPr>
              <a:t>• اربط كل تقنية بسبب عملي.</a:t>
            </a:r>
          </a:p>
          <a:p>
            <a:pPr algn="r" rtl="1"/>
            <a:r>
              <a:rPr lang="ar-EG" sz="1300">
                <a:solidFill>
                  <a:srgbClr val="17202A"/>
                </a:solidFill>
                <a:latin typeface="Arial"/>
                <a:ea typeface="Arial"/>
                <a:cs typeface="Arial"/>
              </a:rPr>
              <a:t>• استخدم أرقام الجودة والـ KPIs في الإجابة.</a:t>
            </a:r>
          </a:p>
          <a:p>
            <a:pPr algn="r" rtl="1"/>
            <a:r>
              <a:rPr lang="ar-EG" sz="1300">
                <a:solidFill>
                  <a:srgbClr val="17202A"/>
                </a:solidFill>
                <a:latin typeface="Arial"/>
                <a:ea typeface="Arial"/>
                <a:cs typeface="Arial"/>
              </a:rPr>
              <a:t>• أكد أن التشغيل المباشر حل مشكلة البيئة.</a:t>
            </a:r>
          </a:p>
        </p:txBody>
      </p:sp>
      <p:sp>
        <p:nvSpPr>
          <p:cNvPr id="11" name="Shape 11"/>
          <p:cNvSpPr txBox="1"/>
          <p:nvPr/>
        </p:nvSpPr>
        <p:spPr>
          <a:xfrm>
            <a:off x="548640" y="6327648"/>
            <a:ext cx="11064240" cy="219456"/>
          </a:xfrm>
          <a:prstGeom prst="rect">
            <a:avLst/>
          </a:prstGeom>
          <a:noFill/>
          <a:ln>
            <a:noFill/>
          </a:ln>
        </p:spPr>
        <p:txBody>
          <a:bodyPr rtlCol="0" anchor="mid" wrap="square">
            <a:normAutofit/>
          </a:bodyPr>
          <a:lstStyle/>
          <a:p>
            <a:pPr algn="ctr"/>
            <a:r>
              <a:rPr lang="en-US" sz="1000">
                <a:solidFill>
                  <a:srgbClr val="64748B"/>
                </a:solidFill>
                <a:latin typeface="Arial"/>
                <a:ea typeface="Arial"/>
                <a:cs typeface="Arial"/>
              </a:rPr>
              <a:t>Smart Retail Pro | Specialized Presentation</a:t>
            </a:r>
          </a:p>
        </p:txBody>
      </p:sp>
    </p:spTree>
  </p:cSld>
  <p:clrMapOvr>
    <a:masterClrMapping/>
  </p:clrMapOvr>
</p:sld>
</file>

<file path=ppt/theme/theme1.xml><?xml version="1.0" encoding="utf-8"?>
<a:theme xmlns:a="http://schemas.openxmlformats.org/drawingml/2006/main" name="Smart Retail Specialized">
  <a:themeElements>
    <a:clrScheme name="SmartRetail">
      <a:dk1>
        <a:srgbClr val="0B1F33"/>
      </a:dk1>
      <a:lt1>
        <a:srgbClr val="FFFFFF"/>
      </a:lt1>
      <a:dk2>
        <a:srgbClr val="17202A"/>
      </a:dk2>
      <a:lt2>
        <a:srgbClr val="F7F9FB"/>
      </a:lt2>
      <a:accent1>
        <a:srgbClr val="1F4E79"/>
      </a:accent1>
      <a:accent2>
        <a:srgbClr val="1B998B"/>
      </a:accent2>
      <a:accent3>
        <a:srgbClr val="F2B84B"/>
      </a:accent3>
      <a:accent4>
        <a:srgbClr val="2F9E44"/>
      </a:accent4>
      <a:accent5>
        <a:srgbClr val="E76F51"/>
      </a:accent5>
      <a:accent6>
        <a:srgbClr val="7057A3"/>
      </a:accent6>
      <a:hlink>
        <a:srgbClr val="0563C1"/>
      </a:hlink>
      <a:folHlink>
        <a:srgbClr val="954F72"/>
      </a:folHlink>
    </a:clrScheme>
    <a:fontScheme name="SmartRetail">
      <a:majFont>
        <a:latin typeface="Arial"/>
        <a:ea typeface="Arial"/>
        <a:cs typeface="Arial"/>
      </a:majFont>
      <a:minFont>
        <a:latin typeface="Arial"/>
        <a:ea typeface="Arial"/>
        <a:cs typeface="Arial"/>
      </a:minFont>
    </a:fontScheme>
    <a:fmtScheme name="SmartRetail">
      <a:fillStyleLst>
        <a:solidFill>
          <a:schemeClr val="phClr"/>
        </a:solidFill>
        <a:solidFill>
          <a:schemeClr val="phClr"/>
        </a:solidFill>
        <a:solidFill>
          <a:schemeClr val="phClr"/>
        </a:solidFill>
      </a:fillStyleLst>
      <a:lnStyleLst>
        <a:ln w="9525">
          <a:solidFill>
            <a:schemeClr val="phClr"/>
          </a:solidFill>
        </a:ln>
        <a:ln w="25400">
          <a:solidFill>
            <a:schemeClr val="phClr"/>
          </a:solidFill>
        </a:ln>
        <a:ln w="3810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Smart Retail Pro Specialized Presentation Generator</Application>
  <PresentationFormat>Widescreen</PresentationFormat>
  <Slides>10</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Retail Pro Specialized Presentation</dc:title>
  <dc:creator>Codex</dc:creator>
  <dc:description>Specialized PowerPoint deck for Smart Retail Pro.</dc:description>
  <dcterms:created xsi:type="dcterms:W3CDTF">2026-05-05T22:04:28.083Z</dcterms:created>
  <dcterms:modified xsi:type="dcterms:W3CDTF">2026-05-05T22:04:28.083Z</dcterms:modified>
</cp:coreProperties>
</file>