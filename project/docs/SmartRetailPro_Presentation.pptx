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400">
                <a:solidFill>
                  <a:srgbClr val="D9EAF7"/>
                </a:solidFill>
                <a:latin typeface="Arial"/>
                <a:ea typeface="Arial"/>
                <a:cs typeface="Arial"/>
              </a:rPr>
              <a:t>عرض تقديمي احترافي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94360" y="13258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Retail Pro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005840" y="2212848"/>
            <a:ext cx="1014984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300">
                <a:solidFill>
                  <a:srgbClr val="F7F9FB"/>
                </a:solidFill>
                <a:latin typeface="Arial"/>
                <a:ea typeface="Arial"/>
                <a:cs typeface="Arial"/>
              </a:rPr>
              <a:t>منصة هندسة بيانات للتجزئة مع واجهة رسومية، مستودع SQLite، تقارير تنفيذية، وتشغيل مباشر بملف EXE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234440" y="3749040"/>
            <a:ext cx="2148840" cy="50292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Engineering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611880" y="3749040"/>
            <a:ext cx="2148840" cy="50292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Medallion Pipeline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989320" y="3749040"/>
            <a:ext cx="2148840" cy="50292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 Warehouse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366760" y="3749040"/>
            <a:ext cx="2148840" cy="50292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Windows EXE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85800" y="5989320"/>
            <a:ext cx="1083564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>
                <a:solidFill>
                  <a:srgbClr val="D9EAF7"/>
                </a:solidFill>
                <a:latin typeface="Arial"/>
                <a:ea typeface="Arial"/>
                <a:cs typeface="Arial"/>
              </a:rPr>
              <a:t>تاريخ العرض: ٦‏/٥‏/٢٠٢٦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فكرة المشروع والقيمة العملية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تحويل بيانات التجزئة الخام إلى قرارات قابلة للقياس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554480"/>
            <a:ext cx="347472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685800" y="1554480"/>
            <a:ext cx="109728" cy="338328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7190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المشكلة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2267712"/>
            <a:ext cx="2971800" cy="2560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بيانات المبيعات والعملاء والأحداث تكون متفرقة وغير جاهزة للتحليل.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الأخطاء والتكرارات تقلل الثقة في التقارير.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تشغيل المشاريع التقنية يدويًا يسبب مشاكل على أجهزة مختلفة.</a:t>
            </a:r>
          </a:p>
        </p:txBody>
      </p:sp>
      <p:sp>
        <p:nvSpPr>
          <p:cNvPr id="11" name="Shape 11"/>
          <p:cNvSpPr/>
          <p:nvPr/>
        </p:nvSpPr>
        <p:spPr>
          <a:xfrm>
            <a:off x="4343400" y="1554480"/>
            <a:ext cx="347472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43400" y="1554480"/>
            <a:ext cx="109728" cy="338328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4617720" y="17190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الحل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17720" y="2267712"/>
            <a:ext cx="2971800" cy="2560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خط بيانات كامل من Source إلى Gold.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مستودع SQLite محلي مع Views تحليلية.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واجهة رسومية للوصول إلى التشغيل والأكواد والتقارير.</a:t>
            </a:r>
          </a:p>
        </p:txBody>
      </p:sp>
      <p:sp>
        <p:nvSpPr>
          <p:cNvPr id="15" name="Shape 15"/>
          <p:cNvSpPr/>
          <p:nvPr/>
        </p:nvSpPr>
        <p:spPr>
          <a:xfrm>
            <a:off x="8001000" y="1554480"/>
            <a:ext cx="347472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001000" y="1554480"/>
            <a:ext cx="109728" cy="338328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275320" y="171907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القيمة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275320" y="2267712"/>
            <a:ext cx="2971800" cy="2560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تشغيل أسهل بملف EXE.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تقارير تنفيذية ولوحة Dashboard.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مشروع قابل للشرح والتطوير والتسليم.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أهداف المشروع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ما الذي يثبته المشروع هندسيًا وعمليًا؟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417320"/>
            <a:ext cx="507492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5212080" y="1618488"/>
            <a:ext cx="384048" cy="384048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51560" y="157276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بناء Pipeline كامل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51560" y="19476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Source, Bronze, Silver, Gold</a:t>
            </a:r>
          </a:p>
        </p:txBody>
      </p:sp>
      <p:sp>
        <p:nvSpPr>
          <p:cNvPr id="11" name="Shape 11"/>
          <p:cNvSpPr/>
          <p:nvPr/>
        </p:nvSpPr>
        <p:spPr>
          <a:xfrm>
            <a:off x="6400800" y="1417320"/>
            <a:ext cx="507492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10789920" y="1618488"/>
            <a:ext cx="384048" cy="384048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629400" y="157276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تطبيق جودة البيانات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629400" y="19476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رفض الصفوف غير الصالحة وقياس معدلات الأخطاء</a:t>
            </a:r>
          </a:p>
        </p:txBody>
      </p:sp>
      <p:sp>
        <p:nvSpPr>
          <p:cNvPr id="15" name="Shape 15"/>
          <p:cNvSpPr/>
          <p:nvPr/>
        </p:nvSpPr>
        <p:spPr>
          <a:xfrm>
            <a:off x="822960" y="2834640"/>
            <a:ext cx="507492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5212080" y="3035808"/>
            <a:ext cx="384048" cy="384048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1051560" y="299008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إنشاء مستودع بيانات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51560" y="336499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SQLite Tables + SQL Views</a:t>
            </a:r>
          </a:p>
        </p:txBody>
      </p:sp>
      <p:sp>
        <p:nvSpPr>
          <p:cNvPr id="19" name="Shape 19"/>
          <p:cNvSpPr/>
          <p:nvPr/>
        </p:nvSpPr>
        <p:spPr>
          <a:xfrm>
            <a:off x="6400800" y="2834640"/>
            <a:ext cx="507492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0789920" y="3035808"/>
            <a:ext cx="384048" cy="384048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629400" y="299008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واجهة سهلة الاستخدام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629400" y="336499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تشغيل، تصفح ملفات، SQL، تقارير</a:t>
            </a:r>
          </a:p>
        </p:txBody>
      </p:sp>
      <p:sp>
        <p:nvSpPr>
          <p:cNvPr id="23" name="Shape 23"/>
          <p:cNvSpPr/>
          <p:nvPr/>
        </p:nvSpPr>
        <p:spPr>
          <a:xfrm>
            <a:off x="822960" y="4251960"/>
            <a:ext cx="507492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5212080" y="4453128"/>
            <a:ext cx="384048" cy="384048"/>
          </a:xfrm>
          <a:prstGeom prst="round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1051560" y="440740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تشغيل مستقل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51560" y="478231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Runtime مرفق وملف EXE</a:t>
            </a:r>
          </a:p>
        </p:txBody>
      </p:sp>
      <p:sp>
        <p:nvSpPr>
          <p:cNvPr id="27" name="Shape 27"/>
          <p:cNvSpPr/>
          <p:nvPr/>
        </p:nvSpPr>
        <p:spPr>
          <a:xfrm>
            <a:off x="6400800" y="4251960"/>
            <a:ext cx="507492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10789920" y="4453128"/>
            <a:ext cx="384048" cy="384048"/>
          </a:xfrm>
          <a:prstGeom prst="round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6629400" y="440740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توسيع بلغة Python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629400" y="478231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منطق أساسي مضاف داخل app/python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معمارية النظام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بنية واضحة تفصل البيانات، المعالجة، التخزين، والواجهة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920240"/>
            <a:ext cx="1417320" cy="914400"/>
          </a:xfrm>
          <a:prstGeom prst="round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1965960" y="2377440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9" name="Shape 9"/>
          <p:cNvSpPr txBox="1"/>
          <p:nvPr/>
        </p:nvSpPr>
        <p:spPr>
          <a:xfrm>
            <a:off x="2450592" y="1920240"/>
            <a:ext cx="1417320" cy="914400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3867912" y="2377440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1" name="Shape 11"/>
          <p:cNvSpPr txBox="1"/>
          <p:nvPr/>
        </p:nvSpPr>
        <p:spPr>
          <a:xfrm>
            <a:off x="4352544" y="1920240"/>
            <a:ext cx="1417320" cy="914400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5769864" y="2377440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3" name="Shape 13"/>
          <p:cNvSpPr txBox="1"/>
          <p:nvPr/>
        </p:nvSpPr>
        <p:spPr>
          <a:xfrm>
            <a:off x="6254496" y="1920240"/>
            <a:ext cx="1417320" cy="914400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7671816" y="2377440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5" name="Shape 15"/>
          <p:cNvSpPr txBox="1"/>
          <p:nvPr/>
        </p:nvSpPr>
        <p:spPr>
          <a:xfrm>
            <a:off x="8156448" y="1920240"/>
            <a:ext cx="1417320" cy="9144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9573768" y="2377440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7" name="Shape 17"/>
          <p:cNvSpPr txBox="1"/>
          <p:nvPr/>
        </p:nvSpPr>
        <p:spPr>
          <a:xfrm>
            <a:off x="10058400" y="1920240"/>
            <a:ext cx="1417320" cy="914400"/>
          </a:xfrm>
          <a:prstGeom prst="round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GUI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731520" y="36576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التدفق يبدأ من بيانات خام واقعية، ثم طبقات تنظيف وتجميع، ثم مستودع بيانات وتحليل من واجهة محلية.</a:t>
            </a:r>
          </a:p>
        </p:txBody>
      </p:sp>
      <p:sp>
        <p:nvSpPr>
          <p:cNvPr id="19" name="Shape 19"/>
          <p:cNvSpPr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solidFill>
            <a:srgbClr val="EAF1F8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143000" y="470916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800">
                <a:solidFill>
                  <a:srgbClr val="1F4E79"/>
                </a:solidFill>
                <a:latin typeface="Arial"/>
                <a:ea typeface="Arial"/>
                <a:cs typeface="Arial"/>
              </a:rPr>
              <a:t>كل مكون محفوظ داخل مجلد المشروع ويمكن الوصول إليه من تبويب الملفات والكود داخل الواجهة.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خط البيانات Data Pipeline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 مراحل مترابطة من الإنشاء إلى التقارير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234440"/>
            <a:ext cx="2999689" cy="646611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المرحلة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548329" y="1234440"/>
            <a:ext cx="1777594" cy="646611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المدة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325923" y="1234440"/>
            <a:ext cx="6332677" cy="646611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مقاييس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8640" y="1881051"/>
            <a:ext cx="2999689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source_generation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548329" y="1881051"/>
            <a:ext cx="1777594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402 ms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325923" y="1881051"/>
            <a:ext cx="6332677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source_sales_rows: 2122 | source_event_rows: 4151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48640" y="2527663"/>
            <a:ext cx="2999689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bronze_ingestion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548329" y="2527663"/>
            <a:ext cx="1777594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734 ms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325923" y="2527663"/>
            <a:ext cx="6332677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bronze_files: 31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48640" y="3174274"/>
            <a:ext cx="2999689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silver_transformation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548329" y="3174274"/>
            <a:ext cx="1777594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4576 ms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5325923" y="3174274"/>
            <a:ext cx="6332677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silver_sales_rows: 2008 | rejected_sales_rows: 114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3820886"/>
            <a:ext cx="2999689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gold_publishing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548329" y="3820886"/>
            <a:ext cx="1777594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3548 ms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325923" y="3820886"/>
            <a:ext cx="6332677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gold_daily_rows: 14 | gold_product_rows: 50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48640" y="4467497"/>
            <a:ext cx="2999689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warehouse_loading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548329" y="4467497"/>
            <a:ext cx="1777594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2911 ms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325923" y="4467497"/>
            <a:ext cx="6332677" cy="646611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warehouse_size_bytes: 909312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548640" y="5114109"/>
            <a:ext cx="2999689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documentation_outputs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3548329" y="5114109"/>
            <a:ext cx="1777594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2556 ms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5325923" y="5114109"/>
            <a:ext cx="6332677" cy="646611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report_files: 5 | source_sales_rows: 2122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نموذج قاعدة البيانات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SQLite Warehouse جاهز للاستعلام والتحليل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371600"/>
            <a:ext cx="2468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731520" y="1371600"/>
            <a:ext cx="109728" cy="219456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05840" y="153619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Dimensions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05840" y="2084832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dim_customer, dim_product</a:t>
            </a:r>
          </a:p>
        </p:txBody>
      </p:sp>
      <p:sp>
        <p:nvSpPr>
          <p:cNvPr id="11" name="Shape 11"/>
          <p:cNvSpPr/>
          <p:nvPr/>
        </p:nvSpPr>
        <p:spPr>
          <a:xfrm>
            <a:off x="3520440" y="1371600"/>
            <a:ext cx="2468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520440" y="1371600"/>
            <a:ext cx="109728" cy="21945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3794760" y="153619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Facts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794760" y="2084832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fact_sales, fact_web_event</a:t>
            </a:r>
          </a:p>
        </p:txBody>
      </p:sp>
      <p:sp>
        <p:nvSpPr>
          <p:cNvPr id="15" name="Shape 15"/>
          <p:cNvSpPr/>
          <p:nvPr/>
        </p:nvSpPr>
        <p:spPr>
          <a:xfrm>
            <a:off x="6309360" y="1371600"/>
            <a:ext cx="2468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309360" y="1371600"/>
            <a:ext cx="109728" cy="219456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6583680" y="153619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Aggregates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583680" y="2084832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daily, product, city, channel, funnel</a:t>
            </a:r>
          </a:p>
        </p:txBody>
      </p:sp>
      <p:sp>
        <p:nvSpPr>
          <p:cNvPr id="19" name="Shape 19"/>
          <p:cNvSpPr/>
          <p:nvPr/>
        </p:nvSpPr>
        <p:spPr>
          <a:xfrm>
            <a:off x="9098280" y="1371600"/>
            <a:ext cx="24688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9098280" y="1371600"/>
            <a:ext cx="109728" cy="219456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9372600" y="153619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Views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9372600" y="2084832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KPI, top products, quality, funnel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822960" y="416052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أمثلة Views جاهزة: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22960" y="4572000"/>
            <a:ext cx="10607040" cy="86868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SELECT * FROM vw_retail_kpi_scorecard;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SELECT * FROM vw_top_products LIMIT 10;</a:t>
            </a:r>
          </a:p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SELECT * FROM vw_data_quality_health;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الواجهة وتجربة الاستخدام UX/UI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كل مكونات المشروع من شاشة واحدة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417320"/>
            <a:ext cx="3246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3246120" y="1618488"/>
            <a:ext cx="384048" cy="384048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914400" y="157276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نظرة عامة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14400" y="19476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KPIs وخريطة المشروع</a:t>
            </a:r>
          </a:p>
        </p:txBody>
      </p:sp>
      <p:sp>
        <p:nvSpPr>
          <p:cNvPr id="11" name="Shape 11"/>
          <p:cNvSpPr/>
          <p:nvPr/>
        </p:nvSpPr>
        <p:spPr>
          <a:xfrm>
            <a:off x="4434840" y="1417320"/>
            <a:ext cx="3246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6995160" y="1618488"/>
            <a:ext cx="384048" cy="384048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4663440" y="157276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تشغيل المشروع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63440" y="19476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تشغيل Pipeline ومتابعة السجل</a:t>
            </a:r>
          </a:p>
        </p:txBody>
      </p:sp>
      <p:sp>
        <p:nvSpPr>
          <p:cNvPr id="15" name="Shape 15"/>
          <p:cNvSpPr/>
          <p:nvPr/>
        </p:nvSpPr>
        <p:spPr>
          <a:xfrm>
            <a:off x="8183880" y="1417320"/>
            <a:ext cx="3246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10744200" y="1618488"/>
            <a:ext cx="384048" cy="384048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412480" y="157276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الملفات والكود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412480" y="19476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فتح الأكواد والبيانات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3017520"/>
            <a:ext cx="3246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3246120" y="3218688"/>
            <a:ext cx="384048" cy="384048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4400" y="317296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قاعدة البيانات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914400" y="35478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Tables, Views, SQL</a:t>
            </a:r>
          </a:p>
        </p:txBody>
      </p:sp>
      <p:sp>
        <p:nvSpPr>
          <p:cNvPr id="23" name="Shape 23"/>
          <p:cNvSpPr/>
          <p:nvPr/>
        </p:nvSpPr>
        <p:spPr>
          <a:xfrm>
            <a:off x="4434840" y="3017520"/>
            <a:ext cx="3246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6995160" y="3218688"/>
            <a:ext cx="384048" cy="384048"/>
          </a:xfrm>
          <a:prstGeom prst="round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4663440" y="317296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التقارير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4663440" y="35478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Dashboard وملخصات</a:t>
            </a:r>
          </a:p>
        </p:txBody>
      </p:sp>
      <p:sp>
        <p:nvSpPr>
          <p:cNvPr id="27" name="Shape 27"/>
          <p:cNvSpPr/>
          <p:nvPr/>
        </p:nvSpPr>
        <p:spPr>
          <a:xfrm>
            <a:off x="8183880" y="3017520"/>
            <a:ext cx="324612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10744200" y="3218688"/>
            <a:ext cx="384048" cy="384048"/>
          </a:xfrm>
          <a:prstGeom prst="round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8412480" y="317296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المساعد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8412480" y="35478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توليد SQL سريع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0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التصميم عربي RTL، بسيط، مباشر، ومناسب لمستخدم يريد تشغيل المشروع وفهم مكوناته دون أوامر معقدة.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نتائج الأعمال الحالية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مؤشرات مستخرجة من آخر تشغيل كامل للمشروع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325880"/>
            <a:ext cx="2514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850392" y="1490472"/>
            <a:ext cx="2185416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الإيرادات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50392" y="1984248"/>
            <a:ext cx="2185416" cy="41148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4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$739,868</a:t>
            </a:r>
          </a:p>
        </p:txBody>
      </p:sp>
      <p:sp>
        <p:nvSpPr>
          <p:cNvPr id="10" name="Shape 10"/>
          <p:cNvSpPr/>
          <p:nvPr/>
        </p:nvSpPr>
        <p:spPr>
          <a:xfrm>
            <a:off x="3566160" y="1325880"/>
            <a:ext cx="2514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3730752" y="1490472"/>
            <a:ext cx="2185416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الطلبات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730752" y="1984248"/>
            <a:ext cx="2185416" cy="41148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4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813</a:t>
            </a:r>
          </a:p>
        </p:txBody>
      </p:sp>
      <p:sp>
        <p:nvSpPr>
          <p:cNvPr id="13" name="Shape 13"/>
          <p:cNvSpPr/>
          <p:nvPr/>
        </p:nvSpPr>
        <p:spPr>
          <a:xfrm>
            <a:off x="6446520" y="1325880"/>
            <a:ext cx="2514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6611112" y="1490472"/>
            <a:ext cx="2185416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القطع المباعة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611112" y="1984248"/>
            <a:ext cx="2185416" cy="41148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4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6,033</a:t>
            </a:r>
          </a:p>
        </p:txBody>
      </p:sp>
      <p:sp>
        <p:nvSpPr>
          <p:cNvPr id="16" name="Shape 16"/>
          <p:cNvSpPr/>
          <p:nvPr/>
        </p:nvSpPr>
        <p:spPr>
          <a:xfrm>
            <a:off x="9326880" y="1325880"/>
            <a:ext cx="2514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9491472" y="1490472"/>
            <a:ext cx="2185416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متوسط الطلب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9491472" y="1984248"/>
            <a:ext cx="2185416" cy="41148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4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$910</a:t>
            </a:r>
          </a:p>
        </p:txBody>
      </p:sp>
      <p:sp>
        <p:nvSpPr>
          <p:cNvPr id="19" name="Shape 19"/>
          <p:cNvSpPr/>
          <p:nvPr/>
        </p:nvSpPr>
        <p:spPr>
          <a:xfrm>
            <a:off x="822960" y="3337560"/>
            <a:ext cx="338328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22960" y="3337560"/>
            <a:ext cx="109728" cy="173736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1097280" y="3502152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أفضل منتج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097280" y="4050792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Premium Coffee Basic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$32,912</a:t>
            </a:r>
          </a:p>
        </p:txBody>
      </p:sp>
      <p:sp>
        <p:nvSpPr>
          <p:cNvPr id="23" name="Shape 23"/>
          <p:cNvSpPr/>
          <p:nvPr/>
        </p:nvSpPr>
        <p:spPr>
          <a:xfrm>
            <a:off x="4434840" y="3337560"/>
            <a:ext cx="338328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4434840" y="3337560"/>
            <a:ext cx="109728" cy="17373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4709160" y="3502152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أفضل شريحة/مدينة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4709160" y="4050792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Giza / Consumer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$77,419</a:t>
            </a:r>
          </a:p>
        </p:txBody>
      </p:sp>
      <p:sp>
        <p:nvSpPr>
          <p:cNvPr id="27" name="Shape 27"/>
          <p:cNvSpPr/>
          <p:nvPr/>
        </p:nvSpPr>
        <p:spPr>
          <a:xfrm>
            <a:off x="8046720" y="3337560"/>
            <a:ext cx="338328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8046720" y="3337560"/>
            <a:ext cx="109728" cy="173736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8321040" y="3502152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أفضل قناة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8321040" y="4050792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Mobile App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$257,333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جودة البيانات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قياس واضح لما تم تنظيفه وما تم رفضه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14400" y="1600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قبل التنظيف</a:t>
            </a:r>
          </a:p>
        </p:txBody>
      </p:sp>
      <p:sp>
        <p:nvSpPr>
          <p:cNvPr id="8" name="Shape 8"/>
          <p:cNvSpPr/>
          <p:nvPr/>
        </p:nvSpPr>
        <p:spPr>
          <a:xfrm>
            <a:off x="2834640" y="1645920"/>
            <a:ext cx="6949440" cy="32004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2834640" y="1645920"/>
            <a:ext cx="6949440" cy="32004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10" name="Shape 10"/>
          <p:cNvSpPr txBox="1"/>
          <p:nvPr/>
        </p:nvSpPr>
        <p:spPr>
          <a:xfrm>
            <a:off x="9875520" y="160020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5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2,122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14400" y="2468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بعد التنظيف</a:t>
            </a:r>
          </a:p>
        </p:txBody>
      </p:sp>
      <p:sp>
        <p:nvSpPr>
          <p:cNvPr id="12" name="Shape 12"/>
          <p:cNvSpPr/>
          <p:nvPr/>
        </p:nvSpPr>
        <p:spPr>
          <a:xfrm>
            <a:off x="2834640" y="2514600"/>
            <a:ext cx="6949440" cy="32004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2834640" y="2514600"/>
            <a:ext cx="6576096" cy="320040"/>
          </a:xfrm>
          <a:prstGeom prst="rect">
            <a:avLst/>
          </a:prstGeom>
          <a:solidFill>
            <a:srgbClr val="2F9E44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9875520" y="246888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5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2,008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914400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صفوف مرفوضة</a:t>
            </a:r>
          </a:p>
        </p:txBody>
      </p:sp>
      <p:sp>
        <p:nvSpPr>
          <p:cNvPr id="16" name="Shape 16"/>
          <p:cNvSpPr/>
          <p:nvPr/>
        </p:nvSpPr>
        <p:spPr>
          <a:xfrm>
            <a:off x="2834640" y="3383280"/>
            <a:ext cx="6949440" cy="32004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2834640" y="3383280"/>
            <a:ext cx="373344" cy="320040"/>
          </a:xfrm>
          <a:prstGeom prst="rect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18" name="Shape 18"/>
          <p:cNvSpPr txBox="1"/>
          <p:nvPr/>
        </p:nvSpPr>
        <p:spPr>
          <a:xfrm>
            <a:off x="9875520" y="3337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5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19" name="Shape 19"/>
          <p:cNvSpPr/>
          <p:nvPr/>
        </p:nvSpPr>
        <p:spPr>
          <a:xfrm>
            <a:off x="914400" y="4343400"/>
            <a:ext cx="29260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914400" y="4343400"/>
            <a:ext cx="109728" cy="105156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1188720" y="4507992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Retention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188720" y="5056632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94.63%</a:t>
            </a:r>
          </a:p>
        </p:txBody>
      </p:sp>
      <p:sp>
        <p:nvSpPr>
          <p:cNvPr id="23" name="Shape 23"/>
          <p:cNvSpPr/>
          <p:nvPr/>
        </p:nvSpPr>
        <p:spPr>
          <a:xfrm>
            <a:off x="4251960" y="4343400"/>
            <a:ext cx="29260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4251960" y="4343400"/>
            <a:ext cx="109728" cy="10515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4526280" y="4507992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Duplicate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4526280" y="5056632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1.13%</a:t>
            </a:r>
          </a:p>
        </p:txBody>
      </p:sp>
      <p:sp>
        <p:nvSpPr>
          <p:cNvPr id="27" name="Shape 27"/>
          <p:cNvSpPr/>
          <p:nvPr/>
        </p:nvSpPr>
        <p:spPr>
          <a:xfrm>
            <a:off x="7589520" y="4343400"/>
            <a:ext cx="292608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7589520" y="4343400"/>
            <a:ext cx="109728" cy="105156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7863840" y="4507992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Invalid Amount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7863840" y="5056632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0.94%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تنفيذ المنطق الأساسي بلغة Python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إضافة طبقة Python واضحة وقابلة للتطوير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325880"/>
            <a:ext cx="50749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685800" y="1325880"/>
            <a:ext cx="109728" cy="22860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49047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ما تمت إضافته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2039112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app/python/smart_retail_pipeline.py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RUN_PYTHON_PIPELINE.cmd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RUN_PYTHON_TESTS.cmd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README_PYTHON_AR.md</a:t>
            </a:r>
          </a:p>
        </p:txBody>
      </p:sp>
      <p:sp>
        <p:nvSpPr>
          <p:cNvPr id="11" name="Shape 11"/>
          <p:cNvSpPr/>
          <p:nvPr/>
        </p:nvSpPr>
        <p:spPr>
          <a:xfrm>
            <a:off x="5989320" y="1325880"/>
            <a:ext cx="50749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5989320" y="1325880"/>
            <a:ext cx="109728" cy="228600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263640" y="149047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ما ينفذه Python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263640" y="2039112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Source, Bronze, Silver, Gold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SQLite Loading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Reports &amp; Dashboard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Data Quality Checks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2960" y="4160520"/>
            <a:ext cx="10469880" cy="7772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4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py -3 app\python\smart_retail_pipeline.py run --days 14 --customers 160 --products 50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822960" y="5120640"/>
            <a:ext cx="10469880" cy="43891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7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ملاحظة: ملف EXE يظل طريقة التشغيل الأسهل، بينما Python يوفر تنفيذًا واضحًا للمنطق الأساسي عند توفر Python 3.10+.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التشغيل والتسليم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مشروع قابل للنقل والاستخدام بسهولة</a:t>
            </a:r>
          </a:p>
        </p:txBody>
      </p:sp>
      <p:sp>
        <p:nvSpPr>
          <p:cNvPr id="7" name="Shape 7"/>
          <p:cNvSpPr/>
          <p:nvPr/>
        </p:nvSpPr>
        <p:spPr>
          <a:xfrm>
            <a:off x="914400" y="1325880"/>
            <a:ext cx="10241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10469880" y="1527048"/>
            <a:ext cx="384048" cy="384048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143000" y="1481328"/>
            <a:ext cx="923544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SmartRetailProject.exe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143000" y="1856232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تشغيل مباشر وفتح المتصفح تلقائيًا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2468880"/>
            <a:ext cx="10241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10469880" y="2670048"/>
            <a:ext cx="384048" cy="384048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1143000" y="2624328"/>
            <a:ext cx="923544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runtime/node.exe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1143000" y="2999232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حل مشكلة node is not recognized</a:t>
            </a:r>
          </a:p>
        </p:txBody>
      </p:sp>
      <p:sp>
        <p:nvSpPr>
          <p:cNvPr id="15" name="Shape 15"/>
          <p:cNvSpPr/>
          <p:nvPr/>
        </p:nvSpPr>
        <p:spPr>
          <a:xfrm>
            <a:off x="914400" y="3611880"/>
            <a:ext cx="10241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10469880" y="3813048"/>
            <a:ext cx="384048" cy="384048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1143000" y="3767328"/>
            <a:ext cx="923544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START_PROJECT.cmd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143000" y="4142232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بديل تشغيل عند منع EXE</a:t>
            </a:r>
          </a:p>
        </p:txBody>
      </p:sp>
      <p:sp>
        <p:nvSpPr>
          <p:cNvPr id="19" name="Shape 19"/>
          <p:cNvSpPr/>
          <p:nvPr/>
        </p:nvSpPr>
        <p:spPr>
          <a:xfrm>
            <a:off x="914400" y="4754880"/>
            <a:ext cx="102412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0469880" y="4956048"/>
            <a:ext cx="384048" cy="384048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143000" y="4910328"/>
            <a:ext cx="923544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SmartRetailPro_Portable.zip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143000" y="5285232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64748B"/>
                </a:solidFill>
                <a:latin typeface="Arial"/>
                <a:ea typeface="Arial"/>
                <a:cs typeface="Arial"/>
              </a:rPr>
              <a:t>نسخة مضغوطة للنقل إلى جهاز آخر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الاختبارات والاعتمادية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التحقق من التشغيل ومنع الأخطاء الشائعة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325880"/>
            <a:ext cx="342900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731520" y="1325880"/>
            <a:ext cx="109728" cy="310896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05840" y="149047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اختبارات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05840" y="2039112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RUN_TESTS.cmd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All Smart Retail Pro checks passed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فحص إنشاء SQLite والتقارير</a:t>
            </a:r>
          </a:p>
        </p:txBody>
      </p:sp>
      <p:sp>
        <p:nvSpPr>
          <p:cNvPr id="11" name="Shape 11"/>
          <p:cNvSpPr/>
          <p:nvPr/>
        </p:nvSpPr>
        <p:spPr>
          <a:xfrm>
            <a:off x="4389120" y="1325880"/>
            <a:ext cx="342900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89120" y="1325880"/>
            <a:ext cx="109728" cy="31089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4663440" y="149047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سلامة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63440" y="2039112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الخادم محلي 127.0.0.1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استعلامات قراءة فقط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حماية مسارات الملفات</a:t>
            </a:r>
          </a:p>
        </p:txBody>
      </p:sp>
      <p:sp>
        <p:nvSpPr>
          <p:cNvPr id="15" name="Shape 15"/>
          <p:cNvSpPr/>
          <p:nvPr/>
        </p:nvSpPr>
        <p:spPr>
          <a:xfrm>
            <a:off x="8046720" y="1325880"/>
            <a:ext cx="342900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046720" y="1325880"/>
            <a:ext cx="109728" cy="310896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321040" y="149047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20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قابلية التشغيل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321040" y="2039112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Runtime مرفق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واجهة محلية</a:t>
            </a:r>
          </a:p>
          <a:p>
            <a:pPr algn="r" rtl="1"/>
            <a:r>
              <a:rPr lang="ar-EG" sz="14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تقارير وقاعدة بيانات جاهزة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68680" y="4983480"/>
            <a:ext cx="10561320" cy="4114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0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آخر تشغيل كامل: success خلال 14.76 ثانية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مخرجات المشروع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600">
                <a:solidFill>
                  <a:srgbClr val="64748B"/>
                </a:solidFill>
                <a:latin typeface="Arial"/>
                <a:ea typeface="Arial"/>
                <a:cs typeface="Arial"/>
              </a:rPr>
              <a:t>كل ما يحتاجه المستخدم أو المقيم موجود داخل المجلد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051560" y="1325880"/>
            <a:ext cx="2816352" cy="548640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المكون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867912" y="1325880"/>
            <a:ext cx="7242048" cy="548640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المسار / الوصف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51560" y="1874520"/>
            <a:ext cx="28163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التشغيل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867912" y="1874520"/>
            <a:ext cx="72420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SmartRetailProject.exe / START_PROJECT.cmd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51560" y="2423160"/>
            <a:ext cx="2816352" cy="5486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الواجهة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867912" y="2423160"/>
            <a:ext cx="7242048" cy="5486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http://127.0.0.1:4173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1051560" y="2971800"/>
            <a:ext cx="28163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البيانات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867912" y="2971800"/>
            <a:ext cx="72420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data/source, bronze, silver, gold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1051560" y="3520440"/>
            <a:ext cx="2816352" cy="5486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قاعدة البيانات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867912" y="3520440"/>
            <a:ext cx="7242048" cy="5486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warehouse/smart_retail.sqlite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1051560" y="4069080"/>
            <a:ext cx="28163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التقارير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3867912" y="4069080"/>
            <a:ext cx="72420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reports و docs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1051560" y="4617720"/>
            <a:ext cx="2816352" cy="5486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867912" y="4617720"/>
            <a:ext cx="7242048" cy="5486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app/python/smart_retail_pipeline.py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051560" y="5166360"/>
            <a:ext cx="28163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التسليم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867912" y="5166360"/>
            <a:ext cx="72420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100">
                <a:solidFill>
                  <a:srgbClr val="17202A"/>
                </a:solidFill>
                <a:latin typeface="Arial"/>
                <a:ea typeface="Arial"/>
                <a:cs typeface="Arial"/>
              </a:rPr>
              <a:t>SmartRetailPro_Portable.zip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48640" y="6327648"/>
            <a:ext cx="11064240" cy="22860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Data Engineering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B998B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731520" y="10515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188720" y="187452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500">
                <a:solidFill>
                  <a:srgbClr val="F7F9FB"/>
                </a:solidFill>
                <a:latin typeface="Arial"/>
                <a:ea typeface="Arial"/>
                <a:cs typeface="Arial"/>
              </a:rPr>
              <a:t>Smart Retail Pro ليس مجرد كود؛ هو مشروع هندسة بيانات كامل قابل للتشغيل والشرح والتسليم، مع واجهة رسومية وتقارير ومستودع بيانات ونسخة Python للمنطق الأساسي.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143000" y="3886200"/>
            <a:ext cx="2743200" cy="54864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جاهز للتشغيل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709160" y="3886200"/>
            <a:ext cx="2743200" cy="54864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جاهز للعرض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75320" y="3886200"/>
            <a:ext cx="2743200" cy="548640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جاهز للتسليم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5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SmartRetailPro_Presentation.pptx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Pro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D9EAF7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Presentation Generator</Application>
  <PresentationFormat>Widescreen</PresentationFormat>
  <Slides>14</Slides>
  <Company>Smart Retail Pro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Presentation</dc:title>
  <dc:subject>Data Engineering Project Presentation</dc:subject>
  <dc:creator>Codex</dc:creator>
  <dc:description>Professional Arabic PowerPoint presentation for Smart Retail Pro.</dc:description>
  <dcterms:created xsi:type="dcterms:W3CDTF">2026-05-05T21:41:32.165Z</dcterms:created>
  <dcterms:modified xsi:type="dcterms:W3CDTF">2026-05-05T21:41:32.165Z</dcterms:modified>
</cp:coreProperties>
</file>