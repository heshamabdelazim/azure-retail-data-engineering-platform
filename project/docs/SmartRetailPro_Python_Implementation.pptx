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25603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685800" y="96012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2200">
                <a:solidFill>
                  <a:srgbClr val="D9EAF7"/>
                </a:solidFill>
                <a:latin typeface="Arial"/>
                <a:ea typeface="Arial"/>
                <a:cs typeface="Arial"/>
              </a:rPr>
              <a:t>Smart Retail Pro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777240" y="1554480"/>
            <a:ext cx="10561320" cy="82296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3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شرح تنفيذ Python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1143000" y="2514600"/>
            <a:ext cx="9829800" cy="7772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2200">
                <a:solidFill>
                  <a:srgbClr val="F7F9FB"/>
                </a:solidFill>
                <a:latin typeface="Arial"/>
                <a:ea typeface="Arial"/>
                <a:cs typeface="Arial"/>
              </a:rPr>
              <a:t>المنطق الأساسي للمشروع مكتوب أيضًا ببايثون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118872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397764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ETL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76656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9555480" y="4069080"/>
            <a:ext cx="2240280" cy="530352"/>
          </a:xfrm>
          <a:prstGeom prst="roundRect">
            <a:avLst/>
          </a:prstGeom>
          <a:solidFill>
            <a:srgbClr val="153449"/>
          </a:solidFill>
          <a:ln w="9525">
            <a:solidFill>
              <a:srgbClr val="4CA7A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>
                <a:solidFill>
                  <a:srgbClr val="D9EAF7"/>
                </a:solidFill>
                <a:latin typeface="Arial"/>
                <a:ea typeface="Arial"/>
                <a:cs typeface="Arial"/>
              </a:rPr>
              <a:t>٦‏/٥‏/٢٠٢٦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محتويات العرض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المحاور التي سيتم شرحها</a:t>
            </a:r>
          </a:p>
        </p:txBody>
      </p:sp>
      <p:sp>
        <p:nvSpPr>
          <p:cNvPr id="7" name="Shape 7"/>
          <p:cNvSpPr/>
          <p:nvPr/>
        </p:nvSpPr>
        <p:spPr>
          <a:xfrm>
            <a:off x="868680" y="141732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5641848" y="1417320"/>
            <a:ext cx="118872" cy="96012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097280" y="158191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1. لماذا Python؟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097280" y="207568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1" name="Shape 11"/>
          <p:cNvSpPr/>
          <p:nvPr/>
        </p:nvSpPr>
        <p:spPr>
          <a:xfrm>
            <a:off x="6309360" y="141732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11082528" y="1417320"/>
            <a:ext cx="118872" cy="96012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6537960" y="158191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2. هيكل الملفات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537960" y="207568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5" name="Shape 15"/>
          <p:cNvSpPr/>
          <p:nvPr/>
        </p:nvSpPr>
        <p:spPr>
          <a:xfrm>
            <a:off x="868680" y="274320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641848" y="2743200"/>
            <a:ext cx="118872" cy="960120"/>
          </a:xfrm>
          <a:prstGeom prst="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1097280" y="290779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3. run_pipeline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1097280" y="340156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19" name="Shape 19"/>
          <p:cNvSpPr/>
          <p:nvPr/>
        </p:nvSpPr>
        <p:spPr>
          <a:xfrm>
            <a:off x="6309360" y="274320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11082528" y="2743200"/>
            <a:ext cx="118872" cy="96012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21" name="Shape 21"/>
          <p:cNvSpPr txBox="1"/>
          <p:nvPr/>
        </p:nvSpPr>
        <p:spPr>
          <a:xfrm>
            <a:off x="6537960" y="290779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4. مراحل المعالجة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6537960" y="340156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23" name="Shape 23"/>
          <p:cNvSpPr/>
          <p:nvPr/>
        </p:nvSpPr>
        <p:spPr>
          <a:xfrm>
            <a:off x="868680" y="406908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5641848" y="4069080"/>
            <a:ext cx="118872" cy="96012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25" name="Shape 25"/>
          <p:cNvSpPr txBox="1"/>
          <p:nvPr/>
        </p:nvSpPr>
        <p:spPr>
          <a:xfrm>
            <a:off x="1097280" y="42336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5. SQLite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1097280" y="472744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27" name="Shape 27"/>
          <p:cNvSpPr/>
          <p:nvPr/>
        </p:nvSpPr>
        <p:spPr>
          <a:xfrm>
            <a:off x="6309360" y="4069080"/>
            <a:ext cx="48920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8" name="Shape 28"/>
          <p:cNvSpPr/>
          <p:nvPr/>
        </p:nvSpPr>
        <p:spPr>
          <a:xfrm>
            <a:off x="11082528" y="4069080"/>
            <a:ext cx="118872" cy="960120"/>
          </a:xfrm>
          <a:prstGeom prst="rect">
            <a:avLst/>
          </a:prstGeom>
          <a:solidFill>
            <a:srgbClr val="7057A3"/>
          </a:solidFill>
          <a:ln w="9525">
            <a:solidFill>
              <a:srgbClr val="7057A3"/>
            </a:solidFill>
          </a:ln>
        </p:spPr>
      </p:sp>
      <p:sp>
        <p:nvSpPr>
          <p:cNvPr id="29" name="Shape 29"/>
          <p:cNvSpPr txBox="1"/>
          <p:nvPr/>
        </p:nvSpPr>
        <p:spPr>
          <a:xfrm>
            <a:off x="6537960" y="42336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7057A3"/>
                </a:solidFill>
                <a:latin typeface="Arial"/>
                <a:ea typeface="Arial"/>
                <a:cs typeface="Arial"/>
              </a:rPr>
              <a:t>6. التشغيل والاختبار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537960" y="4727448"/>
            <a:ext cx="4389120" cy="15544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محور أساسي في العرض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لماذا أضفنا Python؟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لتقوية المشروع تقنيًا وتعليميًا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325880"/>
            <a:ext cx="3383280" cy="3520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3995928" y="1325880"/>
            <a:ext cx="118872" cy="352044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960120" y="1490472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تعليميًا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960120" y="1984248"/>
            <a:ext cx="2880360" cy="271576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Python شائع في هندسة البيانات.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سهل الشرح في المناقشة.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يعرض فهم المنطق لا الأداة فقط.</a:t>
            </a:r>
          </a:p>
        </p:txBody>
      </p:sp>
      <p:sp>
        <p:nvSpPr>
          <p:cNvPr id="11" name="Shape 11"/>
          <p:cNvSpPr/>
          <p:nvPr/>
        </p:nvSpPr>
        <p:spPr>
          <a:xfrm>
            <a:off x="4389120" y="1325880"/>
            <a:ext cx="3383280" cy="3520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2" name="Shape 12"/>
          <p:cNvSpPr/>
          <p:nvPr/>
        </p:nvSpPr>
        <p:spPr>
          <a:xfrm>
            <a:off x="7653528" y="1325880"/>
            <a:ext cx="118872" cy="352044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4617720" y="1490472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تقنيًا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617720" y="1984248"/>
            <a:ext cx="2880360" cy="271576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csv/json/sqlite3 من المكتبة القياسية.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لا يعتمد على مكتبات خارجية.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ينفذ نفس الطبقات الأساسية.</a:t>
            </a:r>
          </a:p>
        </p:txBody>
      </p:sp>
      <p:sp>
        <p:nvSpPr>
          <p:cNvPr id="15" name="Shape 15"/>
          <p:cNvSpPr/>
          <p:nvPr/>
        </p:nvSpPr>
        <p:spPr>
          <a:xfrm>
            <a:off x="8046720" y="1325880"/>
            <a:ext cx="3383280" cy="3520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11311128" y="1325880"/>
            <a:ext cx="118872" cy="3520440"/>
          </a:xfrm>
          <a:prstGeom prst="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</p:sp>
      <p:sp>
        <p:nvSpPr>
          <p:cNvPr id="17" name="Shape 17"/>
          <p:cNvSpPr txBox="1"/>
          <p:nvPr/>
        </p:nvSpPr>
        <p:spPr>
          <a:xfrm>
            <a:off x="8275320" y="1490472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2F9E44"/>
                </a:solidFill>
                <a:latin typeface="Arial"/>
                <a:ea typeface="Arial"/>
                <a:cs typeface="Arial"/>
              </a:rPr>
              <a:t>عمليًا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275320" y="1984248"/>
            <a:ext cx="2880360" cy="271576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RUN_PYTHON_PIPELINE.cmd.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اختبار Python جاهز.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يتطلب Python 3.10+.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هيكل ملفات Python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داخل app/python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22960" y="1325880"/>
            <a:ext cx="3769157" cy="701040"/>
          </a:xfrm>
          <a:prstGeom prst="rect">
            <a:avLst/>
          </a:prstGeom>
          <a:solidFill>
            <a:srgbClr val="1B998B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الملف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592117" y="1325880"/>
            <a:ext cx="6700723" cy="701040"/>
          </a:xfrm>
          <a:prstGeom prst="rect">
            <a:avLst/>
          </a:prstGeom>
          <a:solidFill>
            <a:srgbClr val="1B998B"/>
          </a:solidFill>
          <a:ln w="9525">
            <a:solidFill>
              <a:srgbClr val="FFFFFF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الدور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22960" y="2026920"/>
            <a:ext cx="3769157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smart_retail_pipeline.py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592117" y="2026920"/>
            <a:ext cx="6700723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تنفيذ Pipeline كامل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822960" y="2727960"/>
            <a:ext cx="3769157" cy="70104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test_python_pipeline.py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592117" y="2727960"/>
            <a:ext cx="6700723" cy="70104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اختبار تشغيل نسخة Python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22960" y="3429000"/>
            <a:ext cx="3769157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__init__.py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592117" y="3429000"/>
            <a:ext cx="6700723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تعريف المجلد كحزمة Python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822960" y="4130040"/>
            <a:ext cx="3769157" cy="70104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RUN_PYTHON_PIPELINE.cmd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4592117" y="4130040"/>
            <a:ext cx="6700723" cy="701040"/>
          </a:xfrm>
          <a:prstGeom prst="rect">
            <a:avLst/>
          </a:prstGeom>
          <a:solidFill>
            <a:srgbClr val="F0F5FA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تشغيل مباشر من Windows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822960" y="4831080"/>
            <a:ext cx="3769157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README_PYTHON_AR.md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4592117" y="4831080"/>
            <a:ext cx="6700723" cy="70104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  <p:txBody>
          <a:bodyPr rtlCol="1" anchor="mid" wrap="square">
            <a:normAutofit/>
          </a:bodyPr>
          <a:lstStyle/>
          <a:p>
            <a:pPr algn="ctr" rtl="1"/>
            <a:r>
              <a:rPr lang="ar-EG" sz="1050">
                <a:solidFill>
                  <a:srgbClr val="17202A"/>
                </a:solidFill>
                <a:latin typeface="Arial"/>
                <a:ea typeface="Arial"/>
                <a:cs typeface="Arial"/>
              </a:rPr>
              <a:t>شرح عربي لطريقة الاستخدام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الدالة الرئيسية run_pipeline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تنظم كل مراحل المعالجة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85800" y="1188720"/>
            <a:ext cx="10972800" cy="443484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71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72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73 | def run_pipeline(options: dict | None = None, logger=print) -&gt; dict: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74 |     settings = normalize_options(options or {})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75 |     run_id = f"run_{datetime.now(timezone.utc).strftime('%Y%m%d%H%M%S')}"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76 |     started = time.perf_counter()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77 |     started_at = datetime.now(timezone.utc)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78 |     stage_metrics: list[dict] = []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79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80 |     def stage(name: str, fn):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81 |         logger(f"* {name}")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82 |         stage_started = time.perf_counter()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83 |         result = fn()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84 |         metric = {"stage": name, "duration_ms": int((time.perf_counter() - stage_started) * 1000)}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85 |         metric.update(result.get("metrics", {}))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86 |         stage_metrics.append(metric)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87 |         logger(f"  {name} completed in {metric['duration_ms']}ms")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88 |         return result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89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90 |     ensure_dir(PATHS["reports"])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91 |     logger(f"Starting Smart Retail Pro Python pipeline: {run_id}")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92 |     source = stage("source_generation", lambda: generate_source(settings))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93 |     bronze = stage("bronze_ingestion", lambda: ingest_bronze(run_id))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94 |     silver = stage("silver_transformation", lambda: transform_silver(bronze))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95 |     gold = stage("gold_publishing", lambda: publish_gold(silver))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96 |     warehouse = stage("warehouse_loading", lambda: load_warehouse(run_id, stage_metrics, gold["summary"]))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97 |     docs = stage("documentation_outputs", lambda: generate_reports(source, silver, gold, warehouse))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98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99 |     summary =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100 |         "run_id": run_id,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101 |         "status": "success",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102 |         "engine": "python",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103 |         "started_at": iso_stamp(started_at),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104 |         "finished_at": iso_stamp(datetime.now(timezone.utc)),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105 |         "duration_ms": int((time.perf_counter() - started) * 1000),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106 |         "stages": stage_metrics,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107 |         "outputs": docs["outputs"],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108 |         "warehouse": str(warehouse["file"]),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109 |    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110 |     write_json(PATHS["reports"] / "pipeline_summary.json", summary)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111 |     logger(f"Python pipeline finished successfully in {summary['duration_ms'] / 1000:.2f}s")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مراحل Python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مطابقة للمراحل الأساسية في المشروع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40080" y="2103120"/>
            <a:ext cx="1664208" cy="804672"/>
          </a:xfrm>
          <a:prstGeom prst="round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cxnSp>
        <p:nvCxnSpPr>
          <p:cNvPr id="8" name="Arrow 8"/>
          <p:cNvCxnSpPr/>
          <p:nvPr/>
        </p:nvCxnSpPr>
        <p:spPr>
          <a:xfrm>
            <a:off x="2331720" y="250545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9" name="Shape 9"/>
          <p:cNvSpPr txBox="1"/>
          <p:nvPr/>
        </p:nvSpPr>
        <p:spPr>
          <a:xfrm>
            <a:off x="2926080" y="2103120"/>
            <a:ext cx="1664208" cy="804672"/>
          </a:xfrm>
          <a:prstGeom prst="round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cxnSp>
        <p:nvCxnSpPr>
          <p:cNvPr id="10" name="Arrow 10"/>
          <p:cNvCxnSpPr/>
          <p:nvPr/>
        </p:nvCxnSpPr>
        <p:spPr>
          <a:xfrm>
            <a:off x="4617720" y="250545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1" name="Shape 11"/>
          <p:cNvSpPr txBox="1"/>
          <p:nvPr/>
        </p:nvSpPr>
        <p:spPr>
          <a:xfrm>
            <a:off x="5212080" y="2103120"/>
            <a:ext cx="1664208" cy="804672"/>
          </a:xfrm>
          <a:prstGeom prst="round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cxnSp>
        <p:nvCxnSpPr>
          <p:cNvPr id="12" name="Arrow 12"/>
          <p:cNvCxnSpPr/>
          <p:nvPr/>
        </p:nvCxnSpPr>
        <p:spPr>
          <a:xfrm>
            <a:off x="6903720" y="250545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3" name="Shape 13"/>
          <p:cNvSpPr txBox="1"/>
          <p:nvPr/>
        </p:nvSpPr>
        <p:spPr>
          <a:xfrm>
            <a:off x="7498080" y="2103120"/>
            <a:ext cx="1664208" cy="804672"/>
          </a:xfrm>
          <a:prstGeom prst="roundRect">
            <a:avLst/>
          </a:prstGeom>
          <a:solidFill>
            <a:srgbClr val="2F9E44"/>
          </a:solidFill>
          <a:ln w="9525">
            <a:solidFill>
              <a:srgbClr val="2F9E44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cxnSp>
        <p:nvCxnSpPr>
          <p:cNvPr id="14" name="Arrow 14"/>
          <p:cNvCxnSpPr/>
          <p:nvPr/>
        </p:nvCxnSpPr>
        <p:spPr>
          <a:xfrm>
            <a:off x="9189720" y="250545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5" name="Shape 15"/>
          <p:cNvSpPr txBox="1"/>
          <p:nvPr/>
        </p:nvSpPr>
        <p:spPr>
          <a:xfrm>
            <a:off x="9784080" y="2103120"/>
            <a:ext cx="1664208" cy="804672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cxnSp>
        <p:nvCxnSpPr>
          <p:cNvPr id="16" name="Arrow 16"/>
          <p:cNvCxnSpPr/>
          <p:nvPr/>
        </p:nvCxnSpPr>
        <p:spPr>
          <a:xfrm>
            <a:off x="11475720" y="2505456"/>
            <a:ext cx="438912" cy="0"/>
          </a:xfrm>
          <a:prstGeom prst="straightConnector1">
            <a:avLst/>
          </a:prstGeom>
          <a:ln w="25400">
            <a:solidFill>
              <a:srgbClr val="64748B"/>
            </a:solidFill>
            <a:headEnd type="triangle"/>
          </a:ln>
        </p:spPr>
      </p:cxnSp>
      <p:sp>
        <p:nvSpPr>
          <p:cNvPr id="17" name="Shape 17"/>
          <p:cNvSpPr txBox="1"/>
          <p:nvPr/>
        </p:nvSpPr>
        <p:spPr>
          <a:xfrm>
            <a:off x="12070080" y="2103120"/>
            <a:ext cx="1664208" cy="804672"/>
          </a:xfrm>
          <a:prstGeom prst="round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18" name="Shape 18"/>
          <p:cNvSpPr/>
          <p:nvPr/>
        </p:nvSpPr>
        <p:spPr>
          <a:xfrm>
            <a:off x="914400" y="3749040"/>
            <a:ext cx="480060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19" name="Shape 19"/>
          <p:cNvSpPr/>
          <p:nvPr/>
        </p:nvSpPr>
        <p:spPr>
          <a:xfrm>
            <a:off x="5596128" y="3749040"/>
            <a:ext cx="118872" cy="128016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</p:sp>
      <p:sp>
        <p:nvSpPr>
          <p:cNvPr id="20" name="Shape 20"/>
          <p:cNvSpPr txBox="1"/>
          <p:nvPr/>
        </p:nvSpPr>
        <p:spPr>
          <a:xfrm>
            <a:off x="1143000" y="391363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المخرجات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1143000" y="4407408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CSV, JSONL, JSON, SQLite, HTML Dashboard</a:t>
            </a:r>
          </a:p>
        </p:txBody>
      </p:sp>
      <p:sp>
        <p:nvSpPr>
          <p:cNvPr id="22" name="Shape 22"/>
          <p:cNvSpPr/>
          <p:nvPr/>
        </p:nvSpPr>
        <p:spPr>
          <a:xfrm>
            <a:off x="6309360" y="3749040"/>
            <a:ext cx="480060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23" name="Shape 23"/>
          <p:cNvSpPr/>
          <p:nvPr/>
        </p:nvSpPr>
        <p:spPr>
          <a:xfrm>
            <a:off x="10991088" y="3749040"/>
            <a:ext cx="118872" cy="128016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</a:ln>
        </p:spPr>
      </p:sp>
      <p:sp>
        <p:nvSpPr>
          <p:cNvPr id="24" name="Shape 24"/>
          <p:cNvSpPr txBox="1"/>
          <p:nvPr/>
        </p:nvSpPr>
        <p:spPr>
          <a:xfrm>
            <a:off x="6537960" y="3913632"/>
            <a:ext cx="429768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E76F51"/>
                </a:solidFill>
                <a:latin typeface="Arial"/>
                <a:ea typeface="Arial"/>
                <a:cs typeface="Arial"/>
              </a:rPr>
              <a:t>القواعد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6537960" y="4407408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رفض التكرار، القيم الخاطئة، المراجع غير الموجودة، الحقول الحرجة الفارغة.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SQLite في Python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استخدام sqlite3 من المكتبة القياسية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31520" y="1234440"/>
            <a:ext cx="10835640" cy="434340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487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488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489 | def generate_reports(source: dict, silver: dict, gold: dict, warehouse: dict) -&gt; dict: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490 |     reset_dir(PATHS["reports"])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491 |     ensure_dir(PATHS["metadata"])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492 |     write_json(PATHS["reports"] / "executive_summary.json", gold["summary"])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493 |     write_json(PATHS["reports"] / "data_quality_report.json", silver["quality"])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494 |     (PATHS["reports"] / "executive_summary.md").write_text(markdown_summary(gold["summary"]), encoding="utf-8")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495 |     (PATHS["reports"] / "data_quality_report.md").write_text(markdown_quality(silver["quality"]), encoding="utf-8")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496 |     (PATHS["reports"] / "dashboard.html").write_text(dashboard_html(gold["summary"], gold["products"], gold["city_segment"], gold["channel_rows"]), encoding="utf-8")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497 |     (PATHS["reports"] / "sql_assistant_examples.sql").write_text(sql_examples(), encoding="utf-8")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498 |     write_json(PATHS["metadata"] / "catalog.json", catalog())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499 |     return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500 |         "outputs": {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501 |             "dashboard": str(PATHS["reports"] / "dashboard.html"),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502 |             "warehouse": str(warehouse["file"]),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503 |             "executive_summary": str(PATHS["reports"] / "executive_summary.md"),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504 |             "quality_report": str(PATHS["reports"] / "data_quality_report.md"),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505 |         },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506 |         "metrics": {"report_files": 5, "source_sales_rows": source["manifest"]["sales_rows"]},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507 |     }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508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509 | 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510 | def build_customers(rng: SmartRandom, count: int, start: date) -&gt; list[dict]: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511 |     customers = []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512 |     for index in range(count):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تشغيل واختبار Python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الأوامر الجاهزة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22960" y="1463040"/>
            <a:ext cx="10515600" cy="1417320"/>
          </a:xfrm>
          <a:prstGeom prst="roundRect">
            <a:avLst/>
          </a:prstGeom>
          <a:solidFill>
            <a:srgbClr val="101820"/>
          </a:solidFill>
          <a:ln w="9525">
            <a:solidFill>
              <a:srgbClr val="203040"/>
            </a:solidFill>
          </a:ln>
        </p:spPr>
        <p:txBody>
          <a:bodyPr rtlCol="0" anchor="mid" wrap="square">
            <a:normAutofit/>
          </a:bodyPr>
          <a:lstStyle/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RUN_PYTHON_PIPELINE.cmd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py -3 app\python\smart_retail_pipeline.py run --days 14 --customers 160 --products 50</a:t>
            </a:r>
          </a:p>
          <a:p>
            <a:pPr algn="l"/>
            <a:r>
              <a:rPr lang="en-US" sz="100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RUN_PYTHON_TESTS.cmd</a:t>
            </a:r>
          </a:p>
        </p:txBody>
      </p:sp>
      <p:sp>
        <p:nvSpPr>
          <p:cNvPr id="8" name="Shape 8"/>
          <p:cNvSpPr/>
          <p:nvPr/>
        </p:nvSpPr>
        <p:spPr>
          <a:xfrm>
            <a:off x="914400" y="3657600"/>
            <a:ext cx="102412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9" name="Shape 9"/>
          <p:cNvSpPr/>
          <p:nvPr/>
        </p:nvSpPr>
        <p:spPr>
          <a:xfrm>
            <a:off x="11036808" y="3657600"/>
            <a:ext cx="118872" cy="1325880"/>
          </a:xfrm>
          <a:prstGeom prst="rect">
            <a:avLst/>
          </a:prstGeom>
          <a:solidFill>
            <a:srgbClr val="F2B84B"/>
          </a:solidFill>
          <a:ln w="9525">
            <a:solidFill>
              <a:srgbClr val="F2B84B"/>
            </a:solidFill>
          </a:ln>
        </p:spPr>
      </p:sp>
      <p:sp>
        <p:nvSpPr>
          <p:cNvPr id="10" name="Shape 10"/>
          <p:cNvSpPr txBox="1"/>
          <p:nvPr/>
        </p:nvSpPr>
        <p:spPr>
          <a:xfrm>
            <a:off x="1143000" y="3822192"/>
            <a:ext cx="97383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ملاحظة مهمة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1143000" y="4315968"/>
            <a:ext cx="9738360" cy="52120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الجهاز الحالي لا يحتوي Python مثبتًا فعليًا، لذلك كود Python جاهز لكنه يحتاج تثبيت Python 3.10+ لتشغيله. تشغيل المشروع الأساسي لا يتطلب Python.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5" name="Shape 5"/>
          <p:cNvSpPr txBox="1"/>
          <p:nvPr/>
        </p:nvSpPr>
        <p:spPr>
          <a:xfrm>
            <a:off x="502920" y="384048"/>
            <a:ext cx="11109960" cy="47548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30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خلاصة Python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30352" y="8595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500">
                <a:solidFill>
                  <a:srgbClr val="64748B"/>
                </a:solidFill>
                <a:latin typeface="Arial"/>
                <a:ea typeface="Arial"/>
                <a:cs typeface="Arial"/>
              </a:rPr>
              <a:t>النقاط الأساسية التي يجب تذكرها</a:t>
            </a:r>
          </a:p>
        </p:txBody>
      </p:sp>
      <p:sp>
        <p:nvSpPr>
          <p:cNvPr id="7" name="Shape 7"/>
          <p:cNvSpPr/>
          <p:nvPr/>
        </p:nvSpPr>
        <p:spPr>
          <a:xfrm>
            <a:off x="1051560" y="1417320"/>
            <a:ext cx="10012680" cy="3977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4F0"/>
            </a:solidFill>
          </a:ln>
        </p:spPr>
      </p:sp>
      <p:sp>
        <p:nvSpPr>
          <p:cNvPr id="8" name="Shape 8"/>
          <p:cNvSpPr/>
          <p:nvPr/>
        </p:nvSpPr>
        <p:spPr>
          <a:xfrm>
            <a:off x="10945368" y="1417320"/>
            <a:ext cx="118872" cy="3977640"/>
          </a:xfrm>
          <a:prstGeom prst="rect">
            <a:avLst/>
          </a:prstGeom>
          <a:solidFill>
            <a:srgbClr val="1B998B"/>
          </a:solidFill>
          <a:ln w="9525">
            <a:solidFill>
              <a:srgbClr val="1B998B"/>
            </a:solidFill>
          </a:ln>
        </p:spPr>
      </p:sp>
      <p:sp>
        <p:nvSpPr>
          <p:cNvPr id="9" name="Shape 9"/>
          <p:cNvSpPr txBox="1"/>
          <p:nvPr/>
        </p:nvSpPr>
        <p:spPr>
          <a:xfrm>
            <a:off x="1280160" y="1581912"/>
            <a:ext cx="9509760" cy="347472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900" b="1">
                <a:solidFill>
                  <a:srgbClr val="1B998B"/>
                </a:solidFill>
                <a:latin typeface="Arial"/>
                <a:ea typeface="Arial"/>
                <a:cs typeface="Arial"/>
              </a:rPr>
              <a:t>الخلاصة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1280160" y="2075688"/>
            <a:ext cx="9509760" cy="3172968"/>
          </a:xfrm>
          <a:prstGeom prst="rect">
            <a:avLst/>
          </a:prstGeom>
          <a:noFill/>
          <a:ln>
            <a:noFill/>
          </a:ln>
        </p:spPr>
        <p:txBody>
          <a:bodyPr rtlCol="1" anchor="mid" wrap="square">
            <a:normAutofit/>
          </a:bodyPr>
          <a:lstStyle/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نسخة Python تنفذ المنطق الأساسي.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تستخدم مكتبات قياسية فقط.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تجعل المشروع أقوى في الشرح والمناقشة.</a:t>
            </a:r>
          </a:p>
          <a:p>
            <a:pPr algn="r" rtl="1"/>
            <a:r>
              <a:rPr lang="ar-EG" sz="1300">
                <a:solidFill>
                  <a:srgbClr val="17202A"/>
                </a:solidFill>
                <a:latin typeface="Arial"/>
                <a:ea typeface="Arial"/>
                <a:cs typeface="Arial"/>
              </a:rPr>
              <a:t>• ملف EXE يظل الطريقة الأسهل للمستخدم النهائي.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48640" y="6327648"/>
            <a:ext cx="11064240" cy="219456"/>
          </a:xfrm>
          <a:prstGeom prst="rect">
            <a:avLst/>
          </a:prstGeom>
          <a:noFill/>
          <a:ln>
            <a:noFill/>
          </a:ln>
        </p:spPr>
        <p:txBody>
          <a:bodyPr rtlCol="0" anchor="mid" wrap="square">
            <a:normAutofit/>
          </a:bodyPr>
          <a:lstStyle/>
          <a:p>
            <a:pPr algn="ctr"/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</a:rPr>
              <a:t>Smart Retail Pro | Specialized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Retail Specialized">
  <a:themeElements>
    <a:clrScheme name="SmartRetail">
      <a:dk1>
        <a:srgbClr val="0B1F33"/>
      </a:dk1>
      <a:lt1>
        <a:srgbClr val="FFFFFF"/>
      </a:lt1>
      <a:dk2>
        <a:srgbClr val="17202A"/>
      </a:dk2>
      <a:lt2>
        <a:srgbClr val="F7F9FB"/>
      </a:lt2>
      <a:accent1>
        <a:srgbClr val="1F4E79"/>
      </a:accent1>
      <a:accent2>
        <a:srgbClr val="1B998B"/>
      </a:accent2>
      <a:accent3>
        <a:srgbClr val="F2B84B"/>
      </a:accent3>
      <a:accent4>
        <a:srgbClr val="2F9E44"/>
      </a:accent4>
      <a:accent5>
        <a:srgbClr val="E76F51"/>
      </a:accent5>
      <a:accent6>
        <a:srgbClr val="7057A3"/>
      </a:accent6>
      <a:hlink>
        <a:srgbClr val="0563C1"/>
      </a:hlink>
      <a:folHlink>
        <a:srgbClr val="954F72"/>
      </a:folHlink>
    </a:clrScheme>
    <a:fontScheme name="SmartRetail">
      <a:majFont>
        <a:latin typeface="Arial"/>
        <a:ea typeface="Arial"/>
        <a:cs typeface="Arial"/>
      </a:majFont>
      <a:minFont>
        <a:latin typeface="Arial"/>
        <a:ea typeface="Arial"/>
        <a:cs typeface="Arial"/>
      </a:minFont>
    </a:fontScheme>
    <a:fmtScheme name="SmartRetai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Smart Retail Pro Specialized Presentation Generator</Application>
  <PresentationFormat>Widescreen</PresentationFormat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Retail Pro Specialized Presentation</dc:title>
  <dc:creator>Codex</dc:creator>
  <dc:description>Specialized PowerPoint deck for Smart Retail Pro.</dc:description>
  <dcterms:created xsi:type="dcterms:W3CDTF">2026-05-05T22:04:28.055Z</dcterms:created>
  <dcterms:modified xsi:type="dcterms:W3CDTF">2026-05-05T22:04:28.055Z</dcterms:modified>
</cp:coreProperties>
</file>