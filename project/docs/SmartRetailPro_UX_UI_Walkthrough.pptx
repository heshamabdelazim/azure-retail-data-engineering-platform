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685800" y="96012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200">
                <a:solidFill>
                  <a:srgbClr val="D9EAF7"/>
                </a:solidFill>
                <a:latin typeface="Arial"/>
                <a:ea typeface="Arial"/>
                <a:cs typeface="Arial"/>
              </a:rPr>
              <a:t>Smart Retail Pro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77240" y="1554480"/>
            <a:ext cx="10561320" cy="82296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شرح UX/UI للواجهة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1143000" y="2514600"/>
            <a:ext cx="9829800" cy="7772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2200">
                <a:solidFill>
                  <a:srgbClr val="F7F9FB"/>
                </a:solidFill>
                <a:latin typeface="Arial"/>
                <a:ea typeface="Arial"/>
                <a:cs typeface="Arial"/>
              </a:rPr>
              <a:t>كيف صُممت الواجهة لتسهيل استخدام مشروع هندسة البيانات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118872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RTL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397764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76656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955548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Files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>
                <a:solidFill>
                  <a:srgbClr val="D9EAF7"/>
                </a:solidFill>
                <a:latin typeface="Arial"/>
                <a:ea typeface="Arial"/>
                <a:cs typeface="Arial"/>
              </a:rPr>
              <a:t>٦‏/٥‏/٢٠٢٦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محتويات العرض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المحاور التي سيتم شرحها</a:t>
            </a:r>
          </a:p>
        </p:txBody>
      </p:sp>
      <p:sp>
        <p:nvSpPr>
          <p:cNvPr id="7" name="Shape 7"/>
          <p:cNvSpPr/>
          <p:nvPr/>
        </p:nvSpPr>
        <p:spPr>
          <a:xfrm>
            <a:off x="868680" y="141732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5641848" y="1417320"/>
            <a:ext cx="118872" cy="96012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097280" y="158191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1. مبادئ التصميم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097280" y="207568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1" name="Shape 11"/>
          <p:cNvSpPr/>
          <p:nvPr/>
        </p:nvSpPr>
        <p:spPr>
          <a:xfrm>
            <a:off x="6309360" y="141732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11082528" y="1417320"/>
            <a:ext cx="118872" cy="96012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6537960" y="158191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2. التبويبات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6537960" y="207568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5" name="Shape 15"/>
          <p:cNvSpPr/>
          <p:nvPr/>
        </p:nvSpPr>
        <p:spPr>
          <a:xfrm>
            <a:off x="868680" y="274320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5641848" y="2743200"/>
            <a:ext cx="118872" cy="960120"/>
          </a:xfrm>
          <a:prstGeom prst="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1097280" y="290779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3. رحلة المستخدم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1097280" y="340156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9" name="Shape 19"/>
          <p:cNvSpPr/>
          <p:nvPr/>
        </p:nvSpPr>
        <p:spPr>
          <a:xfrm>
            <a:off x="6309360" y="274320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11082528" y="2743200"/>
            <a:ext cx="118872" cy="96012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6537960" y="290779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4. عرض الملفات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6537960" y="340156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23" name="Shape 23"/>
          <p:cNvSpPr/>
          <p:nvPr/>
        </p:nvSpPr>
        <p:spPr>
          <a:xfrm>
            <a:off x="868680" y="406908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4" name="Shape 24"/>
          <p:cNvSpPr/>
          <p:nvPr/>
        </p:nvSpPr>
        <p:spPr>
          <a:xfrm>
            <a:off x="5641848" y="4069080"/>
            <a:ext cx="118872" cy="960120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25" name="Shape 25"/>
          <p:cNvSpPr txBox="1"/>
          <p:nvPr/>
        </p:nvSpPr>
        <p:spPr>
          <a:xfrm>
            <a:off x="1097280" y="423367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5. قاعدة البيانات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1097280" y="472744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27" name="Shape 27"/>
          <p:cNvSpPr/>
          <p:nvPr/>
        </p:nvSpPr>
        <p:spPr>
          <a:xfrm>
            <a:off x="6309360" y="406908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8" name="Shape 28"/>
          <p:cNvSpPr/>
          <p:nvPr/>
        </p:nvSpPr>
        <p:spPr>
          <a:xfrm>
            <a:off x="11082528" y="4069080"/>
            <a:ext cx="118872" cy="960120"/>
          </a:xfrm>
          <a:prstGeom prst="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</p:sp>
      <p:sp>
        <p:nvSpPr>
          <p:cNvPr id="29" name="Shape 29"/>
          <p:cNvSpPr txBox="1"/>
          <p:nvPr/>
        </p:nvSpPr>
        <p:spPr>
          <a:xfrm>
            <a:off x="6537960" y="423367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7057A3"/>
                </a:solidFill>
                <a:latin typeface="Arial"/>
                <a:ea typeface="Arial"/>
                <a:cs typeface="Arial"/>
              </a:rPr>
              <a:t>6. التقارير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6537960" y="472744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مبادئ التصميم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واجهة عملية وليست صفحة تسويقية</a:t>
            </a:r>
          </a:p>
        </p:txBody>
      </p:sp>
      <p:sp>
        <p:nvSpPr>
          <p:cNvPr id="7" name="Shape 7"/>
          <p:cNvSpPr/>
          <p:nvPr/>
        </p:nvSpPr>
        <p:spPr>
          <a:xfrm>
            <a:off x="731520" y="1325880"/>
            <a:ext cx="3429000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4041648" y="1325880"/>
            <a:ext cx="118872" cy="356616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960120" y="149047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وضوح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960120" y="1984248"/>
            <a:ext cx="2926080" cy="2761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قائمة جانبية ثابتة.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أسماء تبويبات مباشرة.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أزرار قليلة ومفهومة.</a:t>
            </a:r>
          </a:p>
        </p:txBody>
      </p:sp>
      <p:sp>
        <p:nvSpPr>
          <p:cNvPr id="11" name="Shape 11"/>
          <p:cNvSpPr/>
          <p:nvPr/>
        </p:nvSpPr>
        <p:spPr>
          <a:xfrm>
            <a:off x="4389120" y="1325880"/>
            <a:ext cx="3429000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7699248" y="1325880"/>
            <a:ext cx="118872" cy="356616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4617720" y="149047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وصول سريع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617720" y="1984248"/>
            <a:ext cx="2926080" cy="2761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تشغيل Pipeline.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فتح الأكواد.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استعلام قاعدة البيانات.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عرض التقارير.</a:t>
            </a:r>
          </a:p>
        </p:txBody>
      </p:sp>
      <p:sp>
        <p:nvSpPr>
          <p:cNvPr id="15" name="Shape 15"/>
          <p:cNvSpPr/>
          <p:nvPr/>
        </p:nvSpPr>
        <p:spPr>
          <a:xfrm>
            <a:off x="8046720" y="1325880"/>
            <a:ext cx="3429000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11356848" y="1325880"/>
            <a:ext cx="118872" cy="3566160"/>
          </a:xfrm>
          <a:prstGeom prst="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8275320" y="149047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7057A3"/>
                </a:solidFill>
                <a:latin typeface="Arial"/>
                <a:ea typeface="Arial"/>
                <a:cs typeface="Arial"/>
              </a:rPr>
              <a:t>لغة المستخدم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275320" y="1984248"/>
            <a:ext cx="2926080" cy="2761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واجهة عربية RTL.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نصوص مختصرة.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نتائج واضحة.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تبويبات الواجهة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كل تبويب يمثل وظيفة أساسية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85800" y="1234440"/>
            <a:ext cx="3264408" cy="653143"/>
          </a:xfrm>
          <a:prstGeom prst="rect">
            <a:avLst/>
          </a:prstGeom>
          <a:solidFill>
            <a:srgbClr val="7057A3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التبويب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3950208" y="1234440"/>
            <a:ext cx="7616952" cy="653143"/>
          </a:xfrm>
          <a:prstGeom prst="rect">
            <a:avLst/>
          </a:prstGeom>
          <a:solidFill>
            <a:srgbClr val="7057A3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الوظيفة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85800" y="1887583"/>
            <a:ext cx="3264408" cy="653143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نظرة عامة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3950208" y="1887583"/>
            <a:ext cx="7616952" cy="653143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KPIs وخريطة المشروع والوصول السريع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85800" y="2540726"/>
            <a:ext cx="3264408" cy="653143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تشغيل المشروع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3950208" y="2540726"/>
            <a:ext cx="7616952" cy="653143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تشغيل Pipeline ومتابعة السجل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85800" y="3193869"/>
            <a:ext cx="3264408" cy="653143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الملفات والكود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3950208" y="3193869"/>
            <a:ext cx="7616952" cy="653143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استعراض الأكواد والبيانات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685800" y="3847011"/>
            <a:ext cx="3264408" cy="653143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قاعدة البيانات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3950208" y="3847011"/>
            <a:ext cx="7616952" cy="653143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Tables, Views, SQL editor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685800" y="4500154"/>
            <a:ext cx="3264408" cy="653143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التقارير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3950208" y="4500154"/>
            <a:ext cx="7616952" cy="653143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Dashboard وتقارير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685800" y="5153297"/>
            <a:ext cx="3264408" cy="653143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المساعد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3950208" y="5153297"/>
            <a:ext cx="7616952" cy="653143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توليد SQL سريع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رحلة المستخدم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من فتح EXE إلى تحليل البيانات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40080" y="2148840"/>
            <a:ext cx="1664208" cy="804672"/>
          </a:xfrm>
          <a:prstGeom prst="round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2331720" y="255117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9" name="Shape 9"/>
          <p:cNvSpPr txBox="1"/>
          <p:nvPr/>
        </p:nvSpPr>
        <p:spPr>
          <a:xfrm>
            <a:off x="2926080" y="2148840"/>
            <a:ext cx="1664208" cy="804672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4617720" y="255117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1" name="Shape 11"/>
          <p:cNvSpPr txBox="1"/>
          <p:nvPr/>
        </p:nvSpPr>
        <p:spPr>
          <a:xfrm>
            <a:off x="5212080" y="2148840"/>
            <a:ext cx="1664208" cy="804672"/>
          </a:xfrm>
          <a:prstGeom prst="round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6903720" y="255117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3" name="Shape 13"/>
          <p:cNvSpPr txBox="1"/>
          <p:nvPr/>
        </p:nvSpPr>
        <p:spPr>
          <a:xfrm>
            <a:off x="7498080" y="2148840"/>
            <a:ext cx="1664208" cy="804672"/>
          </a:xfrm>
          <a:prstGeom prst="round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cxnSp>
        <p:nvCxnSpPr>
          <p:cNvPr id="14" name="Arrow 14"/>
          <p:cNvCxnSpPr/>
          <p:nvPr/>
        </p:nvCxnSpPr>
        <p:spPr>
          <a:xfrm>
            <a:off x="9189720" y="255117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5" name="Shape 15"/>
          <p:cNvSpPr txBox="1"/>
          <p:nvPr/>
        </p:nvSpPr>
        <p:spPr>
          <a:xfrm>
            <a:off x="9784080" y="2148840"/>
            <a:ext cx="1664208" cy="804672"/>
          </a:xfrm>
          <a:prstGeom prst="round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cxnSp>
        <p:nvCxnSpPr>
          <p:cNvPr id="16" name="Arrow 16"/>
          <p:cNvCxnSpPr/>
          <p:nvPr/>
        </p:nvCxnSpPr>
        <p:spPr>
          <a:xfrm>
            <a:off x="11475720" y="255117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7" name="Shape 17"/>
          <p:cNvSpPr txBox="1"/>
          <p:nvPr/>
        </p:nvSpPr>
        <p:spPr>
          <a:xfrm>
            <a:off x="12070080" y="2148840"/>
            <a:ext cx="1664208" cy="804672"/>
          </a:xfrm>
          <a:prstGeom prst="round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18" name="Shape 18"/>
          <p:cNvSpPr/>
          <p:nvPr/>
        </p:nvSpPr>
        <p:spPr>
          <a:xfrm>
            <a:off x="1097280" y="3657600"/>
            <a:ext cx="987552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10853928" y="3657600"/>
            <a:ext cx="118872" cy="1234440"/>
          </a:xfrm>
          <a:prstGeom prst="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</p:sp>
      <p:sp>
        <p:nvSpPr>
          <p:cNvPr id="20" name="Shape 20"/>
          <p:cNvSpPr txBox="1"/>
          <p:nvPr/>
        </p:nvSpPr>
        <p:spPr>
          <a:xfrm>
            <a:off x="1325880" y="3822192"/>
            <a:ext cx="937260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7057A3"/>
                </a:solidFill>
                <a:latin typeface="Arial"/>
                <a:ea typeface="Arial"/>
                <a:cs typeface="Arial"/>
              </a:rPr>
              <a:t>الفكرة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1325880" y="4315968"/>
            <a:ext cx="9372600" cy="42976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المستخدم لا يحتاج معرفة الأوامر. الواجهة تجمع التشغيل، الفحص، التحليل، والوصول للملفات في مكان واحد.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كود الواجهة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HTML + JavaScript بدون تعقيد زائد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85800" y="1234440"/>
            <a:ext cx="5303520" cy="434340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10 |   &lt;aside&gt;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11 |     &lt;div class="brand"&gt;&lt;b&gt;Smart Retail Pro&lt;/b&gt;&lt;span&gt;Data Engineering Console&lt;/span&gt;&lt;/div&gt;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12 |     &lt;button class="active" data-view="overview"&gt;نظرة عامة&lt;/button&gt;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13 |     &lt;button data-view="run"&gt;تشغيل المشروع&lt;/button&gt;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14 |     &lt;button data-view="files"&gt;الملفات والكود&lt;/button&gt;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15 |     &lt;button data-view="db"&gt;قاعدة البيانات&lt;/button&gt;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16 |     &lt;button data-view="reports"&gt;التقارير&lt;/button&gt;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17 |     &lt;button data-view="assistant"&gt;المساعد&lt;/button&gt;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18 |   &lt;/aside&gt;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19 |   &lt;main&gt;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20 |     &lt;header&gt;&lt;div&gt;&lt;small&gt;Local Windows App&lt;/small&gt;&lt;h1 id="title"&gt;نظرة عامة&lt;/h1&gt;&lt;/div&gt;&lt;button id="refresh"&gt;تحديث&lt;/button&gt;&lt;/header&gt;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21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22 |     &lt;section id="overview" class="view active"&gt;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23 |       &lt;div class="metrics" id="metrics"&gt;&lt;/div&gt;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24 |       &lt;div class="grid"&gt;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25 |         &lt;article class="panel"&gt;&lt;h2&gt;خريطة المشروع&lt;/h2&gt;&lt;div class="flow"&gt;&lt;span&gt;Source&lt;/span&gt;&lt;span&gt;Bronze&lt;/span&gt;&lt;span&gt;Silver&lt;/span&gt;&lt;span&gt;Gold&lt;/span&gt;&lt;span&gt;SQLite&lt;/span&gt;&lt;/div&gt;&lt;/article&gt;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26 |         &lt;article class="panel"&gt;&lt;h2&gt;وصول سريع&lt;/h2&gt;&lt;div id="quick"&gt;&lt;/div&gt;&lt;/article&gt;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27 |       &lt;/div&gt;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28 |     &lt;/section&gt;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29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30 |     &lt;section id="run" class="view"&gt;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31 |       &lt;div class="grid"&gt;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32 |         &lt;article class="panel"&gt;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33 |           &lt;h2&gt;إعادة تشغيل Pipeline&lt;/h2&gt;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34 |           &lt;label&gt;الأيام&lt;input id="days" type="number" value="14"&gt;&lt;/label&gt;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35 |           &lt;label&gt;العملاء&lt;input id="customers" type="number" value="160"&gt;&lt;/label&gt;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6263640" y="1234440"/>
            <a:ext cx="5303520" cy="434340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15 | async function load()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16 |   overview = await get("/api/overview");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17 |   renderOverview();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18 |   renderReports();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19 |   await loadTree(activeRoot);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20 |   await loadDb();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21 |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22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23 | function renderOverview()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24 |   const k = overview.executive?.business_kpis || {};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25 |   const q = overview.executive?.data_quality || {};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26 |   const c = overview.counts || {};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27 |   $("#metrics").innerHTML = [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28 |     ["Revenue", usd(k.total_sales_revenue)],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29 |     ["Orders", num(k.total_orders)],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30 |     ["Sales Rows", num(c.salesRows)],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31 |     ["Retention", pct(q.retention_rate)]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32 |   ].map(([a,b]) =&gt; `&lt;div class="card"&gt;&lt;span&gt;${a}&lt;/span&gt;&lt;strong&gt;${b}&lt;/strong&gt;&lt;/div&gt;`).join("");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33 |   $("#quick").innerHTML = overview.importantFiles.map((file) =&gt; `&lt;div class="quick"&gt;&lt;div&gt;&lt;b&gt;${file.name}&lt;/b&gt;&lt;div class="muted"&gt;${file.path} · ${bytes(file.size)}&lt;/div&gt;&lt;/div&gt;&lt;button onclick="openFile('${file.path}')"&gt;عرض&lt;/button&gt;&lt;/div&gt;`).join("");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34 |   $("#roots").innerHTML = overview.roots.map((root) =&gt; `&lt;button class="root ${root.key===activeRoot?"active":""}" onclick="loadTree('${root.key}')"&gt;${root.label}&lt;/button&gt;`).join("");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35 |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36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37 | async function loadTree(root)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38 |   activeRoot = root;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39 |   if (overview) $("#roots").innerHTML = overview.roots.map((r) =&gt; `&lt;button class="root ${r.key===activeRoot?"active":""}" onclick="loadTree('${r.key}')"&gt;${r.label}&lt;/button&gt;`).join("");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40 |   const data = await get(`/api/tree?root=${encodeURIComponent(root)}`);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41 |   $("#tree").innerHTML = `&lt;div class="tree"&gt;${treeHtml(data.items)}&lt;/div&gt;`;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تصميم قاعدة البيانات داخل الواجهة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استعلام آمن وسهل</a:t>
            </a:r>
          </a:p>
        </p:txBody>
      </p:sp>
      <p:sp>
        <p:nvSpPr>
          <p:cNvPr id="7" name="Shape 7"/>
          <p:cNvSpPr/>
          <p:nvPr/>
        </p:nvSpPr>
        <p:spPr>
          <a:xfrm>
            <a:off x="731520" y="1325880"/>
            <a:ext cx="365760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4270248" y="1325880"/>
            <a:ext cx="118872" cy="347472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960120" y="1490472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المستخدم يرى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960120" y="1984248"/>
            <a:ext cx="3154680" cy="26700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قائمة الجداول والـ Views.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مربع SQL.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نتائج في جدول.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عدد الصفوف وزمن التنفيذ.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4663440" y="1325880"/>
            <a:ext cx="6675120" cy="347472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112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113 | function dbMeta()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114 |   if (!fs.existsSync(paths.warehouseFile)) return { exists: false, objects: [] };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115 |   const db = new DatabaseSync(paths.warehouseFile, { readOnly: true });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116 |   try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117 |     const objects = db.prepare("SELECT name,type FROM sqlite_master WHERE type IN ('table','view') AND name NOT LIKE 'sqlite_%' ORDER BY type,name").all()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118 |       .map((object) =&gt; ({ ...object, count: object.type === "table" ? countRows(db, object.name) : null }));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119 |     return { exists: true, file: paths.warehouseFile, objects };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120 |   } finally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121 |     db.close();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122 |  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123 |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124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125 | function dbQuery(input)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126 |   const sql = String(input.sql || "").trim().replace(/;+\s*$/, "");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127 |   if (!/^(select|with|pragma)\s/i.test(sql) || sql.includes(";")) throw new Error("Read-only SELECT/WITH/PRAGMA queries only.");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128 |   const db = new DatabaseSync(paths.warehouseFile, { readOnly: true });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129 |   try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130 |     const started = Date.now();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131 |     const rows = db.prepare(sql).all();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132 |     return { rows: rows.slice(0, 500), rowCount: rows.length, shownRows: Math.min(rows.length, 500), durationMs: Date.now() - started };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133 |   } finally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134 |     db.close();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خلاصة UX/UI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النقاط الأساسية التي يجب تذكرها</a:t>
            </a:r>
          </a:p>
        </p:txBody>
      </p:sp>
      <p:sp>
        <p:nvSpPr>
          <p:cNvPr id="7" name="Shape 7"/>
          <p:cNvSpPr/>
          <p:nvPr/>
        </p:nvSpPr>
        <p:spPr>
          <a:xfrm>
            <a:off x="1051560" y="1417320"/>
            <a:ext cx="10012680" cy="3977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10945368" y="1417320"/>
            <a:ext cx="118872" cy="3977640"/>
          </a:xfrm>
          <a:prstGeom prst="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280160" y="1581912"/>
            <a:ext cx="95097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7057A3"/>
                </a:solidFill>
                <a:latin typeface="Arial"/>
                <a:ea typeface="Arial"/>
                <a:cs typeface="Arial"/>
              </a:rPr>
              <a:t>الخلاصة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280160" y="2075688"/>
            <a:ext cx="9509760" cy="317296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الواجهة تجعل المشروع قابلًا للاستخدام لا مجرد كود.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RTL عربي مناسب للمستخدم.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كل مكون يمكن الوصول إليه من الشاشة.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التصميم عملي ومناسب لأداة بيانات.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Retail Specialized">
  <a:themeElements>
    <a:clrScheme name="SmartRetail">
      <a:dk1>
        <a:srgbClr val="0B1F33"/>
      </a:dk1>
      <a:lt1>
        <a:srgbClr val="FFFFFF"/>
      </a:lt1>
      <a:dk2>
        <a:srgbClr val="17202A"/>
      </a:dk2>
      <a:lt2>
        <a:srgbClr val="F7F9FB"/>
      </a:lt2>
      <a:accent1>
        <a:srgbClr val="1F4E79"/>
      </a:accent1>
      <a:accent2>
        <a:srgbClr val="1B998B"/>
      </a:accent2>
      <a:accent3>
        <a:srgbClr val="F2B84B"/>
      </a:accent3>
      <a:accent4>
        <a:srgbClr val="2F9E44"/>
      </a:accent4>
      <a:accent5>
        <a:srgbClr val="E76F51"/>
      </a:accent5>
      <a:accent6>
        <a:srgbClr val="7057A3"/>
      </a:accent6>
      <a:hlink>
        <a:srgbClr val="0563C1"/>
      </a:hlink>
      <a:folHlink>
        <a:srgbClr val="954F72"/>
      </a:folHlink>
    </a:clrScheme>
    <a:fontScheme name="SmartRetail">
      <a:majFont>
        <a:latin typeface="Arial"/>
        <a:ea typeface="Arial"/>
        <a:cs typeface="Arial"/>
      </a:majFont>
      <a:minFont>
        <a:latin typeface="Arial"/>
        <a:ea typeface="Arial"/>
        <a:cs typeface="Arial"/>
      </a:minFont>
    </a:fontScheme>
    <a:fmtScheme name="SmartRetai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Smart Retail Pro Specialized Presentation Generator</Application>
  <PresentationFormat>Widescreen</PresentationFormat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Retail Pro Specialized Presentation</dc:title>
  <dc:creator>Codex</dc:creator>
  <dc:description>Specialized PowerPoint deck for Smart Retail Pro.</dc:description>
  <dcterms:created xsi:type="dcterms:W3CDTF">2026-05-05T22:04:28.006Z</dcterms:created>
  <dcterms:modified xsi:type="dcterms:W3CDTF">2026-05-05T22:04:28.006Z</dcterms:modified>
</cp:coreProperties>
</file>